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4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4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48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49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43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44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31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48.xml" ContentType="application/vnd.openxmlformats-officedocument.theme+xml"/>
  <Override PartName="/ppt/theme/theme2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0.xml" ContentType="application/vnd.openxmlformats-officedocument.theme+xml"/>
  <Override PartName="/ppt/theme/theme39.xml" ContentType="application/vnd.openxmlformats-officedocument.theme+xml"/>
  <Override PartName="/ppt/theme/theme41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44.xml" ContentType="application/vnd.openxmlformats-officedocument.theme+xml"/>
  <Override PartName="/ppt/theme/theme45.xml" ContentType="application/vnd.openxmlformats-officedocument.theme+xml"/>
  <Override PartName="/ppt/theme/theme47.xml" ContentType="application/vnd.openxmlformats-officedocument.theme+xml"/>
  <Override PartName="/ppt/theme/theme10.xml" ContentType="application/vnd.openxmlformats-officedocument.theme+xml"/>
  <Override PartName="/ppt/theme/theme36.xml" ContentType="application/vnd.openxmlformats-officedocument.theme+xml"/>
  <Override PartName="/ppt/theme/theme9.xml" ContentType="application/vnd.openxmlformats-officedocument.theme+xml"/>
  <Override PartName="/ppt/theme/theme46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49.xml" ContentType="application/vnd.openxmlformats-officedocument.theme+xml"/>
  <Override PartName="/ppt/slideLayouts/slideLayout22.xml" ContentType="application/vnd.openxmlformats-officedocument.presentationml.slideLayout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embeddings/oleObject1.docx" ContentType="application/vnd.openxmlformats-officedocument.wordprocessingml.document"/>
  <Override PartName="/ppt/media/image1.emf" ContentType="image/x-emf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  <p:sldMasterId id="2147483732" r:id="rId44"/>
    <p:sldMasterId id="2147483734" r:id="rId45"/>
    <p:sldMasterId id="2147483736" r:id="rId46"/>
    <p:sldMasterId id="2147483738" r:id="rId47"/>
    <p:sldMasterId id="2147483740" r:id="rId48"/>
    <p:sldMasterId id="2147483742" r:id="rId49"/>
    <p:sldMasterId id="2147483744" r:id="rId50"/>
  </p:sldMasterIdLst>
  <p:sldIdLst>
    <p:sldId id="256" r:id="rId51"/>
    <p:sldId id="257" r:id="rId52"/>
    <p:sldId id="258" r:id="rId53"/>
    <p:sldId id="259" r:id="rId54"/>
    <p:sldId id="260" r:id="rId55"/>
    <p:sldId id="261" r:id="rId56"/>
    <p:sldId id="262" r:id="rId57"/>
    <p:sldId id="263" r:id="rId58"/>
    <p:sldId id="264" r:id="rId59"/>
  </p:sldIdLst>
  <p:sldSz cx="10077450" cy="566896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" Target="slides/slide1.xml"/><Relationship Id="rId52" Type="http://schemas.openxmlformats.org/officeDocument/2006/relationships/slide" Target="slides/slide2.xml"/><Relationship Id="rId53" Type="http://schemas.openxmlformats.org/officeDocument/2006/relationships/slide" Target="slides/slide3.xml"/><Relationship Id="rId54" Type="http://schemas.openxmlformats.org/officeDocument/2006/relationships/slide" Target="slides/slide4.xml"/><Relationship Id="rId55" Type="http://schemas.openxmlformats.org/officeDocument/2006/relationships/slide" Target="slides/slide5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9.xml"/><Relationship Id="rId6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5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6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7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8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OBJECT_OV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503280" y="303840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FOUR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514512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WO_OBJECTS_AND_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OBJECT_AND_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/>
          </p:nvPr>
        </p:nvSpPr>
        <p:spPr>
          <a:xfrm>
            <a:off x="514512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WO_OBJECTS_OV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503280" y="303840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PlaceHolder 5"/>
          <p:cNvSpPr>
            <a:spLocks noGrp="1"/>
          </p:cNvSpPr>
          <p:nvPr>
            <p:ph/>
          </p:nvPr>
        </p:nvSpPr>
        <p:spPr>
          <a:xfrm>
            <a:off x="514512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/>
          </p:nvPr>
        </p:nvSpPr>
        <p:spPr>
          <a:xfrm>
            <a:off x="514512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/>
          </p:nvPr>
        </p:nvSpPr>
        <p:spPr>
          <a:xfrm>
            <a:off x="503280" y="303840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PlaceHolder 5"/>
          <p:cNvSpPr>
            <a:spLocks noGrp="1"/>
          </p:cNvSpPr>
          <p:nvPr>
            <p:ph/>
          </p:nvPr>
        </p:nvSpPr>
        <p:spPr>
          <a:xfrm>
            <a:off x="514512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/>
          </p:nvPr>
        </p:nvSpPr>
        <p:spPr>
          <a:xfrm>
            <a:off x="514512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/>
          </p:nvPr>
        </p:nvSpPr>
        <p:spPr>
          <a:xfrm>
            <a:off x="503280" y="303840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PlaceHolder 5"/>
          <p:cNvSpPr>
            <a:spLocks noGrp="1"/>
          </p:cNvSpPr>
          <p:nvPr>
            <p:ph/>
          </p:nvPr>
        </p:nvSpPr>
        <p:spPr>
          <a:xfrm>
            <a:off x="514512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5145120" y="303840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/>
          </p:nvPr>
        </p:nvSpPr>
        <p:spPr>
          <a:xfrm>
            <a:off x="514512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PlaceHolder 4"/>
          <p:cNvSpPr>
            <a:spLocks noGrp="1"/>
          </p:cNvSpPr>
          <p:nvPr>
            <p:ph/>
          </p:nvPr>
        </p:nvSpPr>
        <p:spPr>
          <a:xfrm>
            <a:off x="503280" y="303840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2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43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44.xml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slideLayout" Target="../slideLayouts/slideLayout45.xml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slideLayout" Target="../slideLayouts/slideLayout46.xml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slideLayout" Target="../slideLayouts/slideLayout47.xml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slideLayout" Target="../slideLayouts/slideLayout48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slideLayout" Target="../slideLayouts/slideLayout4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503280" y="303876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51454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51454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8;p1"/>
          <p:cNvSpPr/>
          <p:nvPr/>
        </p:nvSpPr>
        <p:spPr>
          <a:xfrm>
            <a:off x="4102200" y="4894560"/>
            <a:ext cx="438084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Google Shape;9;p1"/>
          <p:cNvSpPr/>
          <p:nvPr/>
        </p:nvSpPr>
        <p:spPr>
          <a:xfrm>
            <a:off x="25200" y="462744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Google Shape;10;p1"/>
          <p:cNvSpPr/>
          <p:nvPr/>
        </p:nvSpPr>
        <p:spPr>
          <a:xfrm>
            <a:off x="3857400" y="5322960"/>
            <a:ext cx="6228360" cy="360"/>
          </a:xfrm>
          <a:custGeom>
            <a:avLst/>
            <a:gdLst>
              <a:gd name="textAreaLeft" fmla="*/ 0 w 6228360"/>
              <a:gd name="textAreaRight" fmla="*/ 6237720 w 622836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Google Shape;11;p1"/>
          <p:cNvSpPr/>
          <p:nvPr/>
        </p:nvSpPr>
        <p:spPr>
          <a:xfrm>
            <a:off x="4043160" y="4943520"/>
            <a:ext cx="360" cy="478080"/>
          </a:xfrm>
          <a:custGeom>
            <a:avLst/>
            <a:gdLst>
              <a:gd name="textAreaLeft" fmla="*/ 0 w 360"/>
              <a:gd name="textAreaRight" fmla="*/ 921600 w 360"/>
              <a:gd name="textAreaTop" fmla="*/ 0 h 478080"/>
              <a:gd name="textAreaBottom" fmla="*/ 487440 h 47808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503280" y="303876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1454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PlaceHolder 4"/>
          <p:cNvSpPr>
            <a:spLocks noGrp="1"/>
          </p:cNvSpPr>
          <p:nvPr>
            <p:ph type="body"/>
          </p:nvPr>
        </p:nvSpPr>
        <p:spPr>
          <a:xfrm>
            <a:off x="51454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66;p14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Google Shape;67;p14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Google Shape;68;p14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Google Shape;69;p14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Google Shape;70;p14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body"/>
          </p:nvPr>
        </p:nvSpPr>
        <p:spPr>
          <a:xfrm>
            <a:off x="503280" y="303876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PlaceHolder 5"/>
          <p:cNvSpPr>
            <a:spLocks noGrp="1"/>
          </p:cNvSpPr>
          <p:nvPr>
            <p:ph type="body"/>
          </p:nvPr>
        </p:nvSpPr>
        <p:spPr>
          <a:xfrm>
            <a:off x="51454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PlaceHolder 4"/>
          <p:cNvSpPr>
            <a:spLocks noGrp="1"/>
          </p:cNvSpPr>
          <p:nvPr>
            <p:ph type="body"/>
          </p:nvPr>
        </p:nvSpPr>
        <p:spPr>
          <a:xfrm>
            <a:off x="51454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125;p27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Google Shape;126;p27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Google Shape;127;p27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Google Shape;128;p27"/>
          <p:cNvSpPr/>
          <p:nvPr/>
        </p:nvSpPr>
        <p:spPr>
          <a:xfrm>
            <a:off x="1899720" y="5203440"/>
            <a:ext cx="7453080" cy="360"/>
          </a:xfrm>
          <a:custGeom>
            <a:avLst/>
            <a:gdLst>
              <a:gd name="textAreaLeft" fmla="*/ 0 w 7453080"/>
              <a:gd name="textAreaRight" fmla="*/ 7462440 w 745308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Google Shape;129;p27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body"/>
          </p:nvPr>
        </p:nvSpPr>
        <p:spPr>
          <a:xfrm>
            <a:off x="503280" y="303876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PlaceHolder 5"/>
          <p:cNvSpPr>
            <a:spLocks noGrp="1"/>
          </p:cNvSpPr>
          <p:nvPr>
            <p:ph type="body"/>
          </p:nvPr>
        </p:nvSpPr>
        <p:spPr>
          <a:xfrm>
            <a:off x="51454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9" r:id="rId2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5868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5" r:id="rId2"/>
  </p:sldLayoutIdLst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7" r:id="rId2"/>
  </p:sldLayoutIdLst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9" r:id="rId2"/>
  </p:sldLayoutIdLst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1" r:id="rId2"/>
  </p:sldLayoutIdLst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327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 type="body"/>
          </p:nvPr>
        </p:nvSpPr>
        <p:spPr>
          <a:xfrm>
            <a:off x="5145480" y="303876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3" r:id="rId2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184;p40"/>
          <p:cNvSpPr/>
          <p:nvPr/>
        </p:nvSpPr>
        <p:spPr>
          <a:xfrm>
            <a:off x="20160" y="606600"/>
            <a:ext cx="6108480" cy="8640"/>
          </a:xfrm>
          <a:custGeom>
            <a:avLst/>
            <a:gdLst>
              <a:gd name="textAreaLeft" fmla="*/ 0 w 6108480"/>
              <a:gd name="textAreaRight" fmla="*/ 6117840 w 6108480"/>
              <a:gd name="textAreaTop" fmla="*/ 0 h 8640"/>
              <a:gd name="textAreaBottom" fmla="*/ 18000 h 864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Google Shape;185;p40"/>
          <p:cNvSpPr/>
          <p:nvPr/>
        </p:nvSpPr>
        <p:spPr>
          <a:xfrm>
            <a:off x="4428720" y="840240"/>
            <a:ext cx="5662440" cy="360"/>
          </a:xfrm>
          <a:custGeom>
            <a:avLst/>
            <a:gdLst>
              <a:gd name="textAreaLeft" fmla="*/ 0 w 5662440"/>
              <a:gd name="textAreaRight" fmla="*/ 5671800 w 56624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Google Shape;186;p40"/>
          <p:cNvSpPr/>
          <p:nvPr/>
        </p:nvSpPr>
        <p:spPr>
          <a:xfrm>
            <a:off x="9815760" y="473760"/>
            <a:ext cx="360" cy="483840"/>
          </a:xfrm>
          <a:custGeom>
            <a:avLst/>
            <a:gdLst>
              <a:gd name="textAreaLeft" fmla="*/ 0 w 360"/>
              <a:gd name="textAreaRight" fmla="*/ 921600 w 360"/>
              <a:gd name="textAreaTop" fmla="*/ 0 h 483840"/>
              <a:gd name="textAreaBottom" fmla="*/ 493200 h 48384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Google Shape;187;p40"/>
          <p:cNvSpPr/>
          <p:nvPr/>
        </p:nvSpPr>
        <p:spPr>
          <a:xfrm>
            <a:off x="5641200" y="519336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Google Shape;188;p40"/>
          <p:cNvSpPr/>
          <p:nvPr/>
        </p:nvSpPr>
        <p:spPr>
          <a:xfrm>
            <a:off x="9255960" y="491580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Google Shape;189;p40"/>
          <p:cNvSpPr/>
          <p:nvPr/>
        </p:nvSpPr>
        <p:spPr>
          <a:xfrm>
            <a:off x="973440" y="5193000"/>
            <a:ext cx="3711240" cy="360"/>
          </a:xfrm>
          <a:custGeom>
            <a:avLst/>
            <a:gdLst>
              <a:gd name="textAreaLeft" fmla="*/ 0 w 3711240"/>
              <a:gd name="textAreaRight" fmla="*/ 3720600 w 3711240"/>
              <a:gd name="textAreaTop" fmla="*/ 0 h 360"/>
              <a:gd name="textAreaBottom" fmla="*/ 9216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Google Shape;190;p40"/>
          <p:cNvSpPr/>
          <p:nvPr/>
        </p:nvSpPr>
        <p:spPr>
          <a:xfrm>
            <a:off x="4587840" y="4912560"/>
            <a:ext cx="360" cy="340200"/>
          </a:xfrm>
          <a:custGeom>
            <a:avLst/>
            <a:gdLst>
              <a:gd name="textAreaLeft" fmla="*/ 0 w 360"/>
              <a:gd name="textAreaRight" fmla="*/ 921600 w 360"/>
              <a:gd name="textAreaTop" fmla="*/ 0 h 340200"/>
              <a:gd name="textAreaBottom" fmla="*/ 349560 h 34020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Google Shape;191;p40"/>
          <p:cNvSpPr/>
          <p:nvPr/>
        </p:nvSpPr>
        <p:spPr>
          <a:xfrm>
            <a:off x="5052960" y="1036440"/>
            <a:ext cx="1440" cy="3690720"/>
          </a:xfrm>
          <a:custGeom>
            <a:avLst/>
            <a:gdLst>
              <a:gd name="textAreaLeft" fmla="*/ 0 w 1440"/>
              <a:gd name="textAreaRight" fmla="*/ 10800 w 1440"/>
              <a:gd name="textAreaTop" fmla="*/ 0 h 3690720"/>
              <a:gd name="textAreaBottom" fmla="*/ 3700080 h 369072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body"/>
          </p:nvPr>
        </p:nvSpPr>
        <p:spPr>
          <a:xfrm>
            <a:off x="5145480" y="1325880"/>
            <a:ext cx="442044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body"/>
          </p:nvPr>
        </p:nvSpPr>
        <p:spPr>
          <a:xfrm>
            <a:off x="503280" y="3038760"/>
            <a:ext cx="9058680" cy="1563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package" Target="../embeddings/oleObject1.docx"/><Relationship Id="rId2" Type="http://schemas.openxmlformats.org/officeDocument/2006/relationships/image" Target="../media/image1.emf"/><Relationship Id="rId3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244;p53"/>
          <p:cNvSpPr/>
          <p:nvPr/>
        </p:nvSpPr>
        <p:spPr>
          <a:xfrm>
            <a:off x="227880" y="1599480"/>
            <a:ext cx="8987040" cy="64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Switching Circuit &amp; Logic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Google Shape;245;p53"/>
          <p:cNvSpPr/>
          <p:nvPr/>
        </p:nvSpPr>
        <p:spPr>
          <a:xfrm>
            <a:off x="3735000" y="3198960"/>
            <a:ext cx="260136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Lecture 24 : Counter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Types of Counters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00" name=""/>
          <p:cNvGraphicFramePr/>
          <p:nvPr/>
        </p:nvGraphicFramePr>
        <p:xfrm>
          <a:off x="2502720" y="1642680"/>
          <a:ext cx="5075280" cy="225072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Asynchronous Counter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Synchronous Counter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O/P of one FF to Clock of next FF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No such connection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All clocks are not simultaneous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Same clock to every FF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Simple to design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Tedious and complex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Low speed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Faster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Frequency Divider circuit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Asynchronous Counter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Excitation Table (J-K FF)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04" name=""/>
          <p:cNvGraphicFramePr/>
          <p:nvPr/>
        </p:nvGraphicFramePr>
        <p:xfrm>
          <a:off x="5715000" y="1639440"/>
          <a:ext cx="3925800" cy="2077560"/>
        </p:xfrm>
        <a:graphic>
          <a:graphicData uri="http://schemas.openxmlformats.org/drawingml/2006/table">
            <a:tbl>
              <a:tblPr/>
              <a:tblGrid>
                <a:gridCol w="981360"/>
                <a:gridCol w="981360"/>
                <a:gridCol w="981360"/>
                <a:gridCol w="98172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2"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Required Inputs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n+1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J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K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x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x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x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x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505" name=""/>
          <p:cNvGraphicFramePr/>
          <p:nvPr/>
        </p:nvGraphicFramePr>
        <p:xfrm>
          <a:off x="738720" y="1282680"/>
          <a:ext cx="3916080" cy="3116520"/>
        </p:xfrm>
        <a:graphic>
          <a:graphicData uri="http://schemas.openxmlformats.org/drawingml/2006/table">
            <a:tbl>
              <a:tblPr/>
              <a:tblGrid>
                <a:gridCol w="978840"/>
                <a:gridCol w="978840"/>
                <a:gridCol w="978840"/>
                <a:gridCol w="97956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J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K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n+1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Excitation Table (T FF)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07" name=""/>
          <p:cNvGraphicFramePr/>
          <p:nvPr/>
        </p:nvGraphicFramePr>
        <p:xfrm>
          <a:off x="5715000" y="1639440"/>
          <a:ext cx="3925800" cy="2077560"/>
        </p:xfrm>
        <a:graphic>
          <a:graphicData uri="http://schemas.openxmlformats.org/drawingml/2006/table">
            <a:tbl>
              <a:tblPr/>
              <a:tblGrid>
                <a:gridCol w="981360"/>
                <a:gridCol w="981360"/>
                <a:gridCol w="98136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Required Inputs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n+1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508" name=""/>
          <p:cNvGraphicFramePr/>
          <p:nvPr/>
        </p:nvGraphicFramePr>
        <p:xfrm>
          <a:off x="738720" y="2038680"/>
          <a:ext cx="3916080" cy="3116520"/>
        </p:xfrm>
        <a:graphic>
          <a:graphicData uri="http://schemas.openxmlformats.org/drawingml/2006/table">
            <a:tbl>
              <a:tblPr/>
              <a:tblGrid>
                <a:gridCol w="978840"/>
                <a:gridCol w="978840"/>
                <a:gridCol w="97956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n+1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Excitation Table (D FF)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10" name=""/>
          <p:cNvGraphicFramePr/>
          <p:nvPr/>
        </p:nvGraphicFramePr>
        <p:xfrm>
          <a:off x="5715000" y="1639440"/>
          <a:ext cx="3925800" cy="2077560"/>
        </p:xfrm>
        <a:graphic>
          <a:graphicData uri="http://schemas.openxmlformats.org/drawingml/2006/table">
            <a:tbl>
              <a:tblPr/>
              <a:tblGrid>
                <a:gridCol w="981360"/>
                <a:gridCol w="981360"/>
                <a:gridCol w="98136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PS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Required Inputs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n+1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511" name=""/>
          <p:cNvGraphicFramePr/>
          <p:nvPr/>
        </p:nvGraphicFramePr>
        <p:xfrm>
          <a:off x="738720" y="2038680"/>
          <a:ext cx="3916080" cy="3116520"/>
        </p:xfrm>
        <a:graphic>
          <a:graphicData uri="http://schemas.openxmlformats.org/drawingml/2006/table">
            <a:tbl>
              <a:tblPr/>
              <a:tblGrid>
                <a:gridCol w="978840"/>
                <a:gridCol w="978840"/>
                <a:gridCol w="97956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n+1</a:t>
                      </a:r>
                      <a:endParaRPr b="0" lang="en-US" sz="13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Synchronous Counter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13" name=""/>
          <p:cNvGraphicFramePr/>
          <p:nvPr/>
        </p:nvGraphicFramePr>
        <p:xfrm>
          <a:off x="1977480" y="243000"/>
          <a:ext cx="6119640" cy="895320"/>
        </p:xfrm>
        <a:graphic>
          <a:graphicData uri="http://schemas.openxmlformats.org/presentationml/2006/ole">
            <p:oleObj progId="Word.Document.12" r:id="rId1" spid="">
              <p:embed/>
              <p:pic>
                <p:nvPicPr>
                  <p:cNvPr id="514" name="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1977480" y="243000"/>
                    <a:ext cx="6119640" cy="895320"/>
                  </a:xfrm>
                  <a:prstGeom prst="rect">
                    <a:avLst/>
                  </a:prstGeom>
                  <a:ln w="0">
                    <a:noFill/>
                  </a:ln>
                </p:spPr>
              </p:pic>
            </p:oleObj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6680" cy="63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Synchronous Counter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1699200" y="831600"/>
            <a:ext cx="70538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Design and analyze 3 bit Synchronous Counter Using J-K Flip flops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lastPrinted>2025-11-10T17:24:06Z</cp:lastPrinted>
  <dcterms:modified xsi:type="dcterms:W3CDTF">2025-11-14T11:27:59Z</dcterms:modified>
  <cp:revision>54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
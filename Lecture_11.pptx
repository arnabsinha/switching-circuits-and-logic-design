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4"/>
    <p:sldMasterId id="2147483697" r:id="rId5"/>
    <p:sldMasterId id="2147483698" r:id="rId6"/>
    <p:sldMasterId id="214748369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66FE2B-7767-4F63-80D0-B3B416B55C78}">
  <a:tblStyle styleId="{FD66FE2B-7767-4F63-80D0-B3B416B55C7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4" name="Google Shape;184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5" name="Google Shape;185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2649600" y="3200400"/>
            <a:ext cx="47361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10 : Karnaugh Map for four variables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Karnaugh Map For Three Variables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1" name="Google Shape;251;p54"/>
          <p:cNvGraphicFramePr/>
          <p:nvPr/>
        </p:nvGraphicFramePr>
        <p:xfrm>
          <a:off x="2517480" y="1430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{FD66FE2B-7767-4F63-80D0-B3B416B55C78}</a:tableStyleId>
              </a:tblPr>
              <a:tblGrid>
                <a:gridCol w="1014850"/>
                <a:gridCol w="1014850"/>
                <a:gridCol w="1014850"/>
                <a:gridCol w="1014850"/>
                <a:gridCol w="1016275"/>
              </a:tblGrid>
              <a:tr h="59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AB\CD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0"/>
            <a:ext cx="9936000" cy="99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Max and minterms for four variables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55"/>
          <p:cNvGraphicFramePr/>
          <p:nvPr/>
        </p:nvGraphicFramePr>
        <p:xfrm>
          <a:off x="1510200" y="891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{FD66FE2B-7767-4F63-80D0-B3B416B55C78}</a:tableStyleId>
              </a:tblPr>
              <a:tblGrid>
                <a:gridCol w="1287000"/>
                <a:gridCol w="1287000"/>
                <a:gridCol w="1006925"/>
                <a:gridCol w="1165675"/>
                <a:gridCol w="1151650"/>
                <a:gridCol w="966950"/>
              </a:tblGrid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Maxterm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Minterm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M0 = A+B+C+D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m0 = A’B’C’D’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 = A+B+C+D’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 = A’B’C’D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M2 = A+B+C’+D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m2 = A’B’CD’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M3 = A+B+C’+D’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m3 = A’B’CD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M4 = A+B’+C+D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m4 = A’BC’D’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M5 = A+B’+C+D’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m5 = A’BC’D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M6 = A+B’+C’+D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m6 = A’BCD’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M7 = A+B’+C’+D’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m7 = A’BCD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M8 = A’+B+C+D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m8 = AB’C’D’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M9 = A’+B+C+D’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m9 = AB’C’D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M10 = A’+B+C’+D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m10 = AB’CD’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M11 = A’+B+C’+D’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m11 = AB’CD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M12 = A’+B’+C+D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m12 = ABC’D’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M13 = A’+B’+C+D’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m13 = ABC’D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M14 = A’+B’+C’+D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m14 = ABCD’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M15 = A’+B’+C’+D’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m15 = ABCD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6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Practice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6"/>
          <p:cNvSpPr txBox="1"/>
          <p:nvPr/>
        </p:nvSpPr>
        <p:spPr>
          <a:xfrm>
            <a:off x="2199240" y="910080"/>
            <a:ext cx="5141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A’B’CD + AB’CD’ + A’BC’D + ABC’D’ + ABCD’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7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Practice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7"/>
          <p:cNvSpPr txBox="1"/>
          <p:nvPr/>
        </p:nvSpPr>
        <p:spPr>
          <a:xfrm>
            <a:off x="1263240" y="910080"/>
            <a:ext cx="7285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(A+B+C+D) (A’+B+C’+D’) (A’+B’+C’+D) (A+B’+C’+D’) (A’+B’+C+D)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8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Reduce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5" name="Google Shape;275;p58"/>
          <p:cNvGraphicFramePr/>
          <p:nvPr/>
        </p:nvGraphicFramePr>
        <p:xfrm>
          <a:off x="1172520" y="819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{FD66FE2B-7767-4F63-80D0-B3B416B55C78}</a:tableStyleId>
              </a:tblPr>
              <a:tblGrid>
                <a:gridCol w="1546925"/>
                <a:gridCol w="1546925"/>
                <a:gridCol w="1546925"/>
                <a:gridCol w="1546925"/>
                <a:gridCol w="1551250"/>
              </a:tblGrid>
              <a:tr h="73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AB\CD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9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Reduce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9"/>
          <p:cNvSpPr txBox="1"/>
          <p:nvPr/>
        </p:nvSpPr>
        <p:spPr>
          <a:xfrm>
            <a:off x="2497320" y="792360"/>
            <a:ext cx="420084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lang="en-US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="0" lang="en-US" sz="1800" strike="noStrike"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0" lang="en-US" sz="2600" strike="noStrike">
                <a:latin typeface="Times New Roman"/>
                <a:ea typeface="Times New Roman"/>
                <a:cs typeface="Times New Roman"/>
                <a:sym typeface="Times New Roman"/>
              </a:rPr>
              <a:t>(2,3,6,7,8,10,11,13,14)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0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Reduce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0"/>
          <p:cNvSpPr txBox="1"/>
          <p:nvPr/>
        </p:nvSpPr>
        <p:spPr>
          <a:xfrm>
            <a:off x="3109320" y="756720"/>
            <a:ext cx="3155400" cy="65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lang="en-US" sz="4000" strike="noStrike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800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lang="en-US" sz="2600" strike="noStrike">
                <a:latin typeface="Times New Roman"/>
                <a:ea typeface="Times New Roman"/>
                <a:cs typeface="Times New Roman"/>
                <a:sym typeface="Times New Roman"/>
              </a:rPr>
              <a:t>(4,6,11,14,15)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
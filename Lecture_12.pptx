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6" r:id="rId4"/>
    <p:sldMasterId id="2147483697" r:id="rId5"/>
    <p:sldMasterId id="2147483698" r:id="rId6"/>
    <p:sldMasterId id="214748369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5670550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1CA323C-8B54-453D-A8EE-F0A0B8B34540}">
  <a:tblStyle styleId="{71CA323C-8B54-453D-A8EE-F0A0B8B3454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1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144000" y="3888000"/>
            <a:ext cx="9000000" cy="30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1584000" y="64800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158400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377496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596592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158400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377496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body"/>
          </p:nvPr>
        </p:nvSpPr>
        <p:spPr>
          <a:xfrm>
            <a:off x="596592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144000" y="3888000"/>
            <a:ext cx="9000000" cy="30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3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3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" type="body"/>
          </p:nvPr>
        </p:nvSpPr>
        <p:spPr>
          <a:xfrm>
            <a:off x="1584000" y="64800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2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4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158400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2" type="body"/>
          </p:nvPr>
        </p:nvSpPr>
        <p:spPr>
          <a:xfrm>
            <a:off x="377496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3" type="body"/>
          </p:nvPr>
        </p:nvSpPr>
        <p:spPr>
          <a:xfrm>
            <a:off x="596592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4" type="body"/>
          </p:nvPr>
        </p:nvSpPr>
        <p:spPr>
          <a:xfrm>
            <a:off x="158400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5" type="body"/>
          </p:nvPr>
        </p:nvSpPr>
        <p:spPr>
          <a:xfrm>
            <a:off x="377496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6" type="body"/>
          </p:nvPr>
        </p:nvSpPr>
        <p:spPr>
          <a:xfrm>
            <a:off x="596592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" type="subTitle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 txBox="1"/>
          <p:nvPr>
            <p:ph idx="1" type="subTitle"/>
          </p:nvPr>
        </p:nvSpPr>
        <p:spPr>
          <a:xfrm>
            <a:off x="144000" y="3888000"/>
            <a:ext cx="9000000" cy="30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4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5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5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5"/>
          <p:cNvSpPr txBox="1"/>
          <p:nvPr>
            <p:ph idx="3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6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6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6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6"/>
          <p:cNvSpPr txBox="1"/>
          <p:nvPr>
            <p:ph idx="3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7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7"/>
          <p:cNvSpPr txBox="1"/>
          <p:nvPr>
            <p:ph idx="1" type="body"/>
          </p:nvPr>
        </p:nvSpPr>
        <p:spPr>
          <a:xfrm>
            <a:off x="1584000" y="64800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2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8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8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8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8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4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9"/>
          <p:cNvSpPr txBox="1"/>
          <p:nvPr>
            <p:ph idx="1" type="body"/>
          </p:nvPr>
        </p:nvSpPr>
        <p:spPr>
          <a:xfrm>
            <a:off x="158400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9"/>
          <p:cNvSpPr txBox="1"/>
          <p:nvPr>
            <p:ph idx="2" type="body"/>
          </p:nvPr>
        </p:nvSpPr>
        <p:spPr>
          <a:xfrm>
            <a:off x="377496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9"/>
          <p:cNvSpPr txBox="1"/>
          <p:nvPr>
            <p:ph idx="3" type="body"/>
          </p:nvPr>
        </p:nvSpPr>
        <p:spPr>
          <a:xfrm>
            <a:off x="596592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9"/>
          <p:cNvSpPr txBox="1"/>
          <p:nvPr>
            <p:ph idx="4" type="body"/>
          </p:nvPr>
        </p:nvSpPr>
        <p:spPr>
          <a:xfrm>
            <a:off x="158400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9"/>
          <p:cNvSpPr txBox="1"/>
          <p:nvPr>
            <p:ph idx="5" type="body"/>
          </p:nvPr>
        </p:nvSpPr>
        <p:spPr>
          <a:xfrm>
            <a:off x="377496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9"/>
          <p:cNvSpPr txBox="1"/>
          <p:nvPr>
            <p:ph idx="6" type="body"/>
          </p:nvPr>
        </p:nvSpPr>
        <p:spPr>
          <a:xfrm>
            <a:off x="596592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2"/>
          <p:cNvSpPr txBox="1"/>
          <p:nvPr>
            <p:ph idx="1" type="subTitle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3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3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4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4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4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5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6"/>
          <p:cNvSpPr txBox="1"/>
          <p:nvPr>
            <p:ph idx="1" type="subTitle"/>
          </p:nvPr>
        </p:nvSpPr>
        <p:spPr>
          <a:xfrm>
            <a:off x="144000" y="3888000"/>
            <a:ext cx="9000000" cy="30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7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47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7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7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8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8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8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8"/>
          <p:cNvSpPr txBox="1"/>
          <p:nvPr>
            <p:ph idx="3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9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9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9"/>
          <p:cNvSpPr txBox="1"/>
          <p:nvPr>
            <p:ph idx="3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0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0"/>
          <p:cNvSpPr txBox="1"/>
          <p:nvPr>
            <p:ph idx="1" type="body"/>
          </p:nvPr>
        </p:nvSpPr>
        <p:spPr>
          <a:xfrm>
            <a:off x="1584000" y="64800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50"/>
          <p:cNvSpPr txBox="1"/>
          <p:nvPr>
            <p:ph idx="2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51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51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51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51"/>
          <p:cNvSpPr txBox="1"/>
          <p:nvPr>
            <p:ph idx="4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2"/>
          <p:cNvSpPr txBox="1"/>
          <p:nvPr>
            <p:ph idx="1" type="body"/>
          </p:nvPr>
        </p:nvSpPr>
        <p:spPr>
          <a:xfrm>
            <a:off x="158400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2"/>
          <p:cNvSpPr txBox="1"/>
          <p:nvPr>
            <p:ph idx="2" type="body"/>
          </p:nvPr>
        </p:nvSpPr>
        <p:spPr>
          <a:xfrm>
            <a:off x="377496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52"/>
          <p:cNvSpPr txBox="1"/>
          <p:nvPr>
            <p:ph idx="3" type="body"/>
          </p:nvPr>
        </p:nvSpPr>
        <p:spPr>
          <a:xfrm>
            <a:off x="596592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2"/>
          <p:cNvSpPr txBox="1"/>
          <p:nvPr>
            <p:ph idx="4" type="body"/>
          </p:nvPr>
        </p:nvSpPr>
        <p:spPr>
          <a:xfrm>
            <a:off x="158400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52"/>
          <p:cNvSpPr txBox="1"/>
          <p:nvPr>
            <p:ph idx="5" type="body"/>
          </p:nvPr>
        </p:nvSpPr>
        <p:spPr>
          <a:xfrm>
            <a:off x="377496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52"/>
          <p:cNvSpPr txBox="1"/>
          <p:nvPr>
            <p:ph idx="6" type="body"/>
          </p:nvPr>
        </p:nvSpPr>
        <p:spPr>
          <a:xfrm>
            <a:off x="596592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4104000" y="4896000"/>
            <a:ext cx="4392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920" y="462888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3859200" y="5324400"/>
            <a:ext cx="6240240" cy="7200"/>
          </a:xfrm>
          <a:custGeom>
            <a:rect b="b" l="l" r="r" t="t"/>
            <a:pathLst>
              <a:path extrusionOk="0" h="22" w="17335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044960" y="4944960"/>
            <a:ext cx="7200" cy="487440"/>
          </a:xfrm>
          <a:custGeom>
            <a:rect b="b" l="l" r="r" t="t"/>
            <a:pathLst>
              <a:path extrusionOk="0" h="1356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1" name="Google Shape;121;p27"/>
          <p:cNvSpPr txBox="1"/>
          <p:nvPr>
            <p:ph idx="1"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2" name="Google Shape;122;p27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p27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7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7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7"/>
          <p:cNvSpPr/>
          <p:nvPr/>
        </p:nvSpPr>
        <p:spPr>
          <a:xfrm>
            <a:off x="5644080" y="519480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7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7"/>
          <p:cNvSpPr/>
          <p:nvPr/>
        </p:nvSpPr>
        <p:spPr>
          <a:xfrm>
            <a:off x="974160" y="519444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7"/>
          <p:cNvSpPr/>
          <p:nvPr/>
        </p:nvSpPr>
        <p:spPr>
          <a:xfrm>
            <a:off x="4590000" y="491400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7"/>
          <p:cNvSpPr/>
          <p:nvPr/>
        </p:nvSpPr>
        <p:spPr>
          <a:xfrm>
            <a:off x="5055480" y="1037160"/>
            <a:ext cx="10800" cy="3700800"/>
          </a:xfrm>
          <a:custGeom>
            <a:rect b="b" l="l" r="r" t="t"/>
            <a:pathLst>
              <a:path extrusionOk="0" h="10282" w="3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3" name="Google Shape;183;p40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4" name="Google Shape;184;p40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5" name="Google Shape;185;p40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6" name="Google Shape;186;p40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40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0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0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0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0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3"/>
          <p:cNvSpPr txBox="1"/>
          <p:nvPr/>
        </p:nvSpPr>
        <p:spPr>
          <a:xfrm>
            <a:off x="228600" y="16002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Switching Circuit &amp; Logic Design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3"/>
          <p:cNvSpPr txBox="1"/>
          <p:nvPr/>
        </p:nvSpPr>
        <p:spPr>
          <a:xfrm>
            <a:off x="2649600" y="3200400"/>
            <a:ext cx="47361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Lecture 11 : Five Variable Karnaugh Map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4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Don’t Care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1" name="Google Shape;251;p54"/>
          <p:cNvGraphicFramePr/>
          <p:nvPr/>
        </p:nvGraphicFramePr>
        <p:xfrm>
          <a:off x="215280" y="1380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1268650"/>
                <a:gridCol w="1268650"/>
                <a:gridCol w="1268650"/>
                <a:gridCol w="1269725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86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5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Don’t Care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7" name="Google Shape;257;p55"/>
          <p:cNvGraphicFramePr/>
          <p:nvPr/>
        </p:nvGraphicFramePr>
        <p:xfrm>
          <a:off x="214920" y="138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1268650"/>
                <a:gridCol w="1268650"/>
                <a:gridCol w="1268650"/>
                <a:gridCol w="1269725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86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8" name="Google Shape;258;p55"/>
          <p:cNvGraphicFramePr/>
          <p:nvPr/>
        </p:nvGraphicFramePr>
        <p:xfrm>
          <a:off x="5650920" y="2342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830150"/>
                <a:gridCol w="830150"/>
                <a:gridCol w="830150"/>
                <a:gridCol w="830150"/>
                <a:gridCol w="830525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A\BC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86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6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Don’t Care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4" name="Google Shape;264;p56"/>
          <p:cNvGraphicFramePr/>
          <p:nvPr/>
        </p:nvGraphicFramePr>
        <p:xfrm>
          <a:off x="214920" y="138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1268650"/>
                <a:gridCol w="1268650"/>
                <a:gridCol w="1268650"/>
                <a:gridCol w="1269725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86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5" name="Google Shape;265;p56"/>
          <p:cNvGraphicFramePr/>
          <p:nvPr/>
        </p:nvGraphicFramePr>
        <p:xfrm>
          <a:off x="5650920" y="2342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830150"/>
                <a:gridCol w="830150"/>
                <a:gridCol w="830150"/>
                <a:gridCol w="830150"/>
                <a:gridCol w="830525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A\BC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86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6" name="Google Shape;266;p56"/>
          <p:cNvSpPr/>
          <p:nvPr/>
        </p:nvSpPr>
        <p:spPr>
          <a:xfrm>
            <a:off x="8425440" y="2753640"/>
            <a:ext cx="1160280" cy="579960"/>
          </a:xfrm>
          <a:prstGeom prst="rect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56"/>
          <p:cNvSpPr txBox="1"/>
          <p:nvPr/>
        </p:nvSpPr>
        <p:spPr>
          <a:xfrm>
            <a:off x="8529480" y="3888000"/>
            <a:ext cx="3333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56"/>
          <p:cNvCxnSpPr>
            <a:stCxn id="266" idx="1"/>
            <a:endCxn id="267" idx="1"/>
          </p:cNvCxnSpPr>
          <p:nvPr/>
        </p:nvCxnSpPr>
        <p:spPr>
          <a:xfrm>
            <a:off x="8425440" y="3043620"/>
            <a:ext cx="104100" cy="1017600"/>
          </a:xfrm>
          <a:prstGeom prst="bentConnector3">
            <a:avLst>
              <a:gd fmla="val 50000" name="adj1"/>
            </a:avLst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3" name="Google Shape;273;p57"/>
          <p:cNvGraphicFramePr/>
          <p:nvPr/>
        </p:nvGraphicFramePr>
        <p:xfrm>
          <a:off x="5650920" y="2342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830150"/>
                <a:gridCol w="830150"/>
                <a:gridCol w="830150"/>
                <a:gridCol w="830150"/>
                <a:gridCol w="830525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A\BC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86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4" name="Google Shape;274;p57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Don’t Care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5" name="Google Shape;275;p57"/>
          <p:cNvGraphicFramePr/>
          <p:nvPr/>
        </p:nvGraphicFramePr>
        <p:xfrm>
          <a:off x="214920" y="138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1268650"/>
                <a:gridCol w="1268650"/>
                <a:gridCol w="1268650"/>
                <a:gridCol w="1269725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A9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FF860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76" name="Google Shape;276;p57"/>
          <p:cNvGrpSpPr/>
          <p:nvPr/>
        </p:nvGrpSpPr>
        <p:grpSpPr>
          <a:xfrm>
            <a:off x="9074880" y="2762280"/>
            <a:ext cx="857520" cy="548640"/>
            <a:chOff x="9074880" y="2762280"/>
            <a:chExt cx="857520" cy="548640"/>
          </a:xfrm>
        </p:grpSpPr>
        <p:cxnSp>
          <p:nvCxnSpPr>
            <p:cNvPr id="277" name="Google Shape;277;p57"/>
            <p:cNvCxnSpPr/>
            <p:nvPr/>
          </p:nvCxnSpPr>
          <p:spPr>
            <a:xfrm>
              <a:off x="9074880" y="2770920"/>
              <a:ext cx="0" cy="52812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8" name="Google Shape;278;p57"/>
            <p:cNvCxnSpPr/>
            <p:nvPr/>
          </p:nvCxnSpPr>
          <p:spPr>
            <a:xfrm flipH="1" rot="10800000">
              <a:off x="9074880" y="2762280"/>
              <a:ext cx="857160" cy="864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9" name="Google Shape;279;p57"/>
            <p:cNvCxnSpPr/>
            <p:nvPr/>
          </p:nvCxnSpPr>
          <p:spPr>
            <a:xfrm flipH="1" rot="10800000">
              <a:off x="9075240" y="3302280"/>
              <a:ext cx="857160" cy="864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0" name="Google Shape;280;p57"/>
          <p:cNvGrpSpPr/>
          <p:nvPr/>
        </p:nvGrpSpPr>
        <p:grpSpPr>
          <a:xfrm>
            <a:off x="6297120" y="2757960"/>
            <a:ext cx="857520" cy="548640"/>
            <a:chOff x="6297120" y="2757960"/>
            <a:chExt cx="857520" cy="548640"/>
          </a:xfrm>
        </p:grpSpPr>
        <p:cxnSp>
          <p:nvCxnSpPr>
            <p:cNvPr id="281" name="Google Shape;281;p57"/>
            <p:cNvCxnSpPr/>
            <p:nvPr/>
          </p:nvCxnSpPr>
          <p:spPr>
            <a:xfrm rot="10800000">
              <a:off x="7154640" y="2769840"/>
              <a:ext cx="0" cy="52812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2" name="Google Shape;282;p57"/>
            <p:cNvCxnSpPr/>
            <p:nvPr/>
          </p:nvCxnSpPr>
          <p:spPr>
            <a:xfrm flipH="1">
              <a:off x="6297480" y="3297960"/>
              <a:ext cx="857160" cy="864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3" name="Google Shape;283;p57"/>
            <p:cNvCxnSpPr/>
            <p:nvPr/>
          </p:nvCxnSpPr>
          <p:spPr>
            <a:xfrm flipH="1">
              <a:off x="6297120" y="2757960"/>
              <a:ext cx="857160" cy="8640"/>
            </a:xfrm>
            <a:prstGeom prst="straightConnector1">
              <a:avLst/>
            </a:prstGeom>
            <a:noFill/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4" name="Google Shape;284;p57"/>
          <p:cNvSpPr txBox="1"/>
          <p:nvPr/>
        </p:nvSpPr>
        <p:spPr>
          <a:xfrm>
            <a:off x="7241040" y="4241160"/>
            <a:ext cx="3967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" name="Google Shape;285;p57"/>
          <p:cNvCxnSpPr/>
          <p:nvPr/>
        </p:nvCxnSpPr>
        <p:spPr>
          <a:xfrm flipH="1" rot="-5400000">
            <a:off x="6605280" y="3427200"/>
            <a:ext cx="954000" cy="712800"/>
          </a:xfrm>
          <a:prstGeom prst="bentConnector3">
            <a:avLst>
              <a:gd fmla="val 50000" name="adj1"/>
            </a:avLst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6" name="Google Shape;286;p57"/>
          <p:cNvSpPr txBox="1"/>
          <p:nvPr/>
        </p:nvSpPr>
        <p:spPr>
          <a:xfrm>
            <a:off x="4093920" y="5117400"/>
            <a:ext cx="12124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F = B + C’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8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Don’t Care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58"/>
          <p:cNvSpPr txBox="1"/>
          <p:nvPr/>
        </p:nvSpPr>
        <p:spPr>
          <a:xfrm>
            <a:off x="2497320" y="792720"/>
            <a:ext cx="4703760" cy="6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lang="en-US" sz="4000" strike="noStrike">
                <a:latin typeface="Times New Roman"/>
                <a:ea typeface="Times New Roman"/>
                <a:cs typeface="Times New Roman"/>
                <a:sym typeface="Times New Roman"/>
              </a:rPr>
              <a:t>Σ</a:t>
            </a:r>
            <a:r>
              <a:rPr b="0" lang="en-US" sz="1800" strike="noStrike"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b="0" lang="en-US" sz="2600" strike="noStrike">
                <a:latin typeface="Times New Roman"/>
                <a:ea typeface="Times New Roman"/>
                <a:cs typeface="Times New Roman"/>
                <a:sym typeface="Times New Roman"/>
              </a:rPr>
              <a:t>(1,5,6,12,13,14) </a:t>
            </a:r>
            <a:r>
              <a:rPr b="0" lang="en-US" sz="3200" strike="noStrike">
                <a:latin typeface="Times New Roman"/>
                <a:ea typeface="Times New Roman"/>
                <a:cs typeface="Times New Roman"/>
                <a:sym typeface="Times New Roman"/>
              </a:rPr>
              <a:t>+ d(2,4)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9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Five variable K-Map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8" name="Google Shape;298;p59"/>
          <p:cNvGraphicFramePr/>
          <p:nvPr/>
        </p:nvGraphicFramePr>
        <p:xfrm>
          <a:off x="236880" y="1395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932400"/>
                <a:gridCol w="932400"/>
                <a:gridCol w="932400"/>
                <a:gridCol w="932400"/>
                <a:gridCol w="933475"/>
              </a:tblGrid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BC\DE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9" name="Google Shape;299;p59"/>
          <p:cNvGraphicFramePr/>
          <p:nvPr/>
        </p:nvGraphicFramePr>
        <p:xfrm>
          <a:off x="5205240" y="1396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932400"/>
                <a:gridCol w="932400"/>
                <a:gridCol w="932400"/>
                <a:gridCol w="932400"/>
                <a:gridCol w="933475"/>
              </a:tblGrid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BC\DE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0" name="Google Shape;300;p59"/>
          <p:cNvSpPr txBox="1"/>
          <p:nvPr/>
        </p:nvSpPr>
        <p:spPr>
          <a:xfrm>
            <a:off x="2381400" y="966240"/>
            <a:ext cx="594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A=0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9"/>
          <p:cNvSpPr txBox="1"/>
          <p:nvPr/>
        </p:nvSpPr>
        <p:spPr>
          <a:xfrm>
            <a:off x="7385400" y="966240"/>
            <a:ext cx="594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A=1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9"/>
          <p:cNvSpPr/>
          <p:nvPr/>
        </p:nvSpPr>
        <p:spPr>
          <a:xfrm>
            <a:off x="1468800" y="194940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59"/>
          <p:cNvSpPr/>
          <p:nvPr/>
        </p:nvSpPr>
        <p:spPr>
          <a:xfrm>
            <a:off x="6364800" y="194940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59"/>
          <p:cNvSpPr/>
          <p:nvPr/>
        </p:nvSpPr>
        <p:spPr>
          <a:xfrm>
            <a:off x="4276800" y="194940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59"/>
          <p:cNvSpPr/>
          <p:nvPr/>
        </p:nvSpPr>
        <p:spPr>
          <a:xfrm>
            <a:off x="9244800" y="194940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59"/>
          <p:cNvSpPr/>
          <p:nvPr/>
        </p:nvSpPr>
        <p:spPr>
          <a:xfrm>
            <a:off x="1468800" y="241740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59"/>
          <p:cNvSpPr/>
          <p:nvPr/>
        </p:nvSpPr>
        <p:spPr>
          <a:xfrm>
            <a:off x="4276800" y="241776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59"/>
          <p:cNvSpPr/>
          <p:nvPr/>
        </p:nvSpPr>
        <p:spPr>
          <a:xfrm>
            <a:off x="6364800" y="241776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59"/>
          <p:cNvSpPr/>
          <p:nvPr/>
        </p:nvSpPr>
        <p:spPr>
          <a:xfrm>
            <a:off x="9244800" y="241776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59"/>
          <p:cNvSpPr/>
          <p:nvPr/>
        </p:nvSpPr>
        <p:spPr>
          <a:xfrm>
            <a:off x="2368800" y="245376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59"/>
          <p:cNvSpPr/>
          <p:nvPr/>
        </p:nvSpPr>
        <p:spPr>
          <a:xfrm>
            <a:off x="3304800" y="245412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59"/>
          <p:cNvSpPr/>
          <p:nvPr/>
        </p:nvSpPr>
        <p:spPr>
          <a:xfrm>
            <a:off x="2368800" y="295812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9"/>
          <p:cNvSpPr/>
          <p:nvPr/>
        </p:nvSpPr>
        <p:spPr>
          <a:xfrm>
            <a:off x="3304800" y="292212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59"/>
          <p:cNvSpPr/>
          <p:nvPr/>
        </p:nvSpPr>
        <p:spPr>
          <a:xfrm>
            <a:off x="7372800" y="245376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59"/>
          <p:cNvSpPr/>
          <p:nvPr/>
        </p:nvSpPr>
        <p:spPr>
          <a:xfrm>
            <a:off x="8308800" y="245412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59"/>
          <p:cNvSpPr/>
          <p:nvPr/>
        </p:nvSpPr>
        <p:spPr>
          <a:xfrm>
            <a:off x="7372800" y="295812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9"/>
          <p:cNvSpPr/>
          <p:nvPr/>
        </p:nvSpPr>
        <p:spPr>
          <a:xfrm>
            <a:off x="8308800" y="292212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59"/>
          <p:cNvSpPr/>
          <p:nvPr/>
        </p:nvSpPr>
        <p:spPr>
          <a:xfrm>
            <a:off x="1468800" y="346176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59"/>
          <p:cNvSpPr/>
          <p:nvPr/>
        </p:nvSpPr>
        <p:spPr>
          <a:xfrm>
            <a:off x="2368800" y="346212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59"/>
          <p:cNvSpPr/>
          <p:nvPr/>
        </p:nvSpPr>
        <p:spPr>
          <a:xfrm>
            <a:off x="3340800" y="346176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59"/>
          <p:cNvSpPr/>
          <p:nvPr/>
        </p:nvSpPr>
        <p:spPr>
          <a:xfrm>
            <a:off x="4240800" y="346212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59"/>
          <p:cNvSpPr/>
          <p:nvPr/>
        </p:nvSpPr>
        <p:spPr>
          <a:xfrm>
            <a:off x="6436800" y="346176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59"/>
          <p:cNvSpPr/>
          <p:nvPr/>
        </p:nvSpPr>
        <p:spPr>
          <a:xfrm>
            <a:off x="7336800" y="346212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59"/>
          <p:cNvSpPr/>
          <p:nvPr/>
        </p:nvSpPr>
        <p:spPr>
          <a:xfrm>
            <a:off x="8308800" y="346176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59"/>
          <p:cNvSpPr/>
          <p:nvPr/>
        </p:nvSpPr>
        <p:spPr>
          <a:xfrm>
            <a:off x="9208800" y="346212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0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Five variable K-Map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1" name="Google Shape;331;p60"/>
          <p:cNvGraphicFramePr/>
          <p:nvPr/>
        </p:nvGraphicFramePr>
        <p:xfrm>
          <a:off x="236880" y="1395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932400"/>
                <a:gridCol w="932400"/>
                <a:gridCol w="932400"/>
                <a:gridCol w="932400"/>
                <a:gridCol w="933475"/>
              </a:tblGrid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BC\DE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2" name="Google Shape;332;p60"/>
          <p:cNvGraphicFramePr/>
          <p:nvPr/>
        </p:nvGraphicFramePr>
        <p:xfrm>
          <a:off x="5205240" y="1396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932400"/>
                <a:gridCol w="932400"/>
                <a:gridCol w="932400"/>
                <a:gridCol w="932400"/>
                <a:gridCol w="933475"/>
              </a:tblGrid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BC\DE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3" name="Google Shape;333;p60"/>
          <p:cNvSpPr txBox="1"/>
          <p:nvPr/>
        </p:nvSpPr>
        <p:spPr>
          <a:xfrm>
            <a:off x="2381400" y="966240"/>
            <a:ext cx="594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A=0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60"/>
          <p:cNvSpPr txBox="1"/>
          <p:nvPr/>
        </p:nvSpPr>
        <p:spPr>
          <a:xfrm>
            <a:off x="7385400" y="966240"/>
            <a:ext cx="594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A=1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0"/>
          <p:cNvSpPr/>
          <p:nvPr/>
        </p:nvSpPr>
        <p:spPr>
          <a:xfrm>
            <a:off x="4276800" y="194940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60"/>
          <p:cNvSpPr/>
          <p:nvPr/>
        </p:nvSpPr>
        <p:spPr>
          <a:xfrm>
            <a:off x="3340800" y="194940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60"/>
          <p:cNvSpPr/>
          <p:nvPr/>
        </p:nvSpPr>
        <p:spPr>
          <a:xfrm>
            <a:off x="4276800" y="346140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60"/>
          <p:cNvSpPr/>
          <p:nvPr/>
        </p:nvSpPr>
        <p:spPr>
          <a:xfrm>
            <a:off x="3340800" y="346140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60"/>
          <p:cNvSpPr/>
          <p:nvPr/>
        </p:nvSpPr>
        <p:spPr>
          <a:xfrm>
            <a:off x="9280800" y="194976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60"/>
          <p:cNvSpPr/>
          <p:nvPr/>
        </p:nvSpPr>
        <p:spPr>
          <a:xfrm>
            <a:off x="8344800" y="194976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60"/>
          <p:cNvSpPr/>
          <p:nvPr/>
        </p:nvSpPr>
        <p:spPr>
          <a:xfrm>
            <a:off x="9280800" y="346176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60"/>
          <p:cNvSpPr/>
          <p:nvPr/>
        </p:nvSpPr>
        <p:spPr>
          <a:xfrm>
            <a:off x="8344800" y="346176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60"/>
          <p:cNvSpPr/>
          <p:nvPr/>
        </p:nvSpPr>
        <p:spPr>
          <a:xfrm>
            <a:off x="1432800" y="245340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60"/>
          <p:cNvSpPr/>
          <p:nvPr/>
        </p:nvSpPr>
        <p:spPr>
          <a:xfrm>
            <a:off x="2404800" y="245340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60"/>
          <p:cNvSpPr/>
          <p:nvPr/>
        </p:nvSpPr>
        <p:spPr>
          <a:xfrm>
            <a:off x="1433160" y="295740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60"/>
          <p:cNvSpPr/>
          <p:nvPr/>
        </p:nvSpPr>
        <p:spPr>
          <a:xfrm>
            <a:off x="2405160" y="295740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60"/>
          <p:cNvSpPr/>
          <p:nvPr/>
        </p:nvSpPr>
        <p:spPr>
          <a:xfrm>
            <a:off x="6436800" y="245340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60"/>
          <p:cNvSpPr/>
          <p:nvPr/>
        </p:nvSpPr>
        <p:spPr>
          <a:xfrm>
            <a:off x="7408800" y="245340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60"/>
          <p:cNvSpPr/>
          <p:nvPr/>
        </p:nvSpPr>
        <p:spPr>
          <a:xfrm>
            <a:off x="6437160" y="295740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60"/>
          <p:cNvSpPr/>
          <p:nvPr/>
        </p:nvSpPr>
        <p:spPr>
          <a:xfrm>
            <a:off x="7409160" y="2957400"/>
            <a:ext cx="359640" cy="359640"/>
          </a:xfrm>
          <a:prstGeom prst="ellipse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60"/>
          <p:cNvSpPr txBox="1"/>
          <p:nvPr/>
        </p:nvSpPr>
        <p:spPr>
          <a:xfrm>
            <a:off x="818280" y="4346640"/>
            <a:ext cx="15786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2, 4, 8, 16, 32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1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Don’t Care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61"/>
          <p:cNvSpPr txBox="1"/>
          <p:nvPr/>
        </p:nvSpPr>
        <p:spPr>
          <a:xfrm>
            <a:off x="733320" y="792720"/>
            <a:ext cx="8650800" cy="6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lang="en-US" sz="4000" strike="noStrike">
                <a:latin typeface="Times New Roman"/>
                <a:ea typeface="Times New Roman"/>
                <a:cs typeface="Times New Roman"/>
                <a:sym typeface="Times New Roman"/>
              </a:rPr>
              <a:t>Σ</a:t>
            </a:r>
            <a:r>
              <a:rPr b="0" lang="en-US" sz="1800" strike="noStrike"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b="0" lang="en-US" sz="2600" strike="noStrike">
                <a:latin typeface="Times New Roman"/>
                <a:ea typeface="Times New Roman"/>
                <a:cs typeface="Times New Roman"/>
                <a:sym typeface="Times New Roman"/>
              </a:rPr>
              <a:t>(6,9,13,18,19,25,27,29,31) </a:t>
            </a:r>
            <a:r>
              <a:rPr b="0" lang="en-US" sz="3200" strike="noStrike">
                <a:latin typeface="Times New Roman"/>
                <a:ea typeface="Times New Roman"/>
                <a:cs typeface="Times New Roman"/>
                <a:sym typeface="Times New Roman"/>
              </a:rPr>
              <a:t>+ d(2,3,11,15,17,24,28)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8" name="Google Shape;358;p61"/>
          <p:cNvGraphicFramePr/>
          <p:nvPr/>
        </p:nvGraphicFramePr>
        <p:xfrm>
          <a:off x="237240" y="1756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932400"/>
                <a:gridCol w="932400"/>
                <a:gridCol w="932400"/>
                <a:gridCol w="932400"/>
                <a:gridCol w="933475"/>
              </a:tblGrid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BC\DE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9" name="Google Shape;359;p61"/>
          <p:cNvGraphicFramePr/>
          <p:nvPr/>
        </p:nvGraphicFramePr>
        <p:xfrm>
          <a:off x="5151960" y="1796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932400"/>
                <a:gridCol w="932400"/>
                <a:gridCol w="932400"/>
                <a:gridCol w="932400"/>
                <a:gridCol w="933475"/>
              </a:tblGrid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BC\DE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0" name="Google Shape;360;p61"/>
          <p:cNvSpPr txBox="1"/>
          <p:nvPr/>
        </p:nvSpPr>
        <p:spPr>
          <a:xfrm>
            <a:off x="2381400" y="1398240"/>
            <a:ext cx="594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A=0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61"/>
          <p:cNvSpPr txBox="1"/>
          <p:nvPr/>
        </p:nvSpPr>
        <p:spPr>
          <a:xfrm>
            <a:off x="7385400" y="1398240"/>
            <a:ext cx="594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A=1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1"/>
          <p:cNvSpPr/>
          <p:nvPr/>
        </p:nvSpPr>
        <p:spPr>
          <a:xfrm>
            <a:off x="7131600" y="2999880"/>
            <a:ext cx="1722600" cy="1319760"/>
          </a:xfrm>
          <a:prstGeom prst="ellipse">
            <a:avLst/>
          </a:prstGeom>
          <a:noFill/>
          <a:ln cap="flat" cmpd="sng" w="1004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61"/>
          <p:cNvSpPr/>
          <p:nvPr/>
        </p:nvSpPr>
        <p:spPr>
          <a:xfrm>
            <a:off x="2163600" y="3000240"/>
            <a:ext cx="1722600" cy="1319760"/>
          </a:xfrm>
          <a:prstGeom prst="ellipse">
            <a:avLst/>
          </a:prstGeom>
          <a:noFill/>
          <a:ln cap="flat" cmpd="sng" w="1004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61"/>
          <p:cNvSpPr txBox="1"/>
          <p:nvPr/>
        </p:nvSpPr>
        <p:spPr>
          <a:xfrm>
            <a:off x="2612880" y="4532400"/>
            <a:ext cx="48564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2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Don’t Care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62"/>
          <p:cNvSpPr txBox="1"/>
          <p:nvPr/>
        </p:nvSpPr>
        <p:spPr>
          <a:xfrm>
            <a:off x="733320" y="792720"/>
            <a:ext cx="8650800" cy="6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lang="en-US" sz="4000" strike="noStrike">
                <a:latin typeface="Times New Roman"/>
                <a:ea typeface="Times New Roman"/>
                <a:cs typeface="Times New Roman"/>
                <a:sym typeface="Times New Roman"/>
              </a:rPr>
              <a:t>Σ</a:t>
            </a:r>
            <a:r>
              <a:rPr b="0" lang="en-US" sz="1800" strike="noStrike"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b="0" lang="en-US" sz="2600" strike="noStrike">
                <a:latin typeface="Times New Roman"/>
                <a:ea typeface="Times New Roman"/>
                <a:cs typeface="Times New Roman"/>
                <a:sym typeface="Times New Roman"/>
              </a:rPr>
              <a:t>(6,9,13,18,19,25,27,29,31) </a:t>
            </a:r>
            <a:r>
              <a:rPr b="0" lang="en-US" sz="3200" strike="noStrike">
                <a:latin typeface="Times New Roman"/>
                <a:ea typeface="Times New Roman"/>
                <a:cs typeface="Times New Roman"/>
                <a:sym typeface="Times New Roman"/>
              </a:rPr>
              <a:t>+ d(2,3,11,15,17,24,28)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1" name="Google Shape;371;p62"/>
          <p:cNvGraphicFramePr/>
          <p:nvPr/>
        </p:nvGraphicFramePr>
        <p:xfrm>
          <a:off x="237240" y="1756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932400"/>
                <a:gridCol w="932400"/>
                <a:gridCol w="932400"/>
                <a:gridCol w="932400"/>
                <a:gridCol w="933475"/>
              </a:tblGrid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BC\DE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2" name="Google Shape;372;p62"/>
          <p:cNvGraphicFramePr/>
          <p:nvPr/>
        </p:nvGraphicFramePr>
        <p:xfrm>
          <a:off x="5151960" y="1796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932400"/>
                <a:gridCol w="932400"/>
                <a:gridCol w="932400"/>
                <a:gridCol w="932400"/>
                <a:gridCol w="933475"/>
              </a:tblGrid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BC\DE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3" name="Google Shape;373;p62"/>
          <p:cNvSpPr txBox="1"/>
          <p:nvPr/>
        </p:nvSpPr>
        <p:spPr>
          <a:xfrm>
            <a:off x="2381400" y="1398240"/>
            <a:ext cx="594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A=0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62"/>
          <p:cNvSpPr txBox="1"/>
          <p:nvPr/>
        </p:nvSpPr>
        <p:spPr>
          <a:xfrm>
            <a:off x="7385400" y="1398240"/>
            <a:ext cx="594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A=1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62"/>
          <p:cNvSpPr/>
          <p:nvPr/>
        </p:nvSpPr>
        <p:spPr>
          <a:xfrm>
            <a:off x="8067600" y="2100600"/>
            <a:ext cx="1722600" cy="762120"/>
          </a:xfrm>
          <a:prstGeom prst="ellipse">
            <a:avLst/>
          </a:prstGeom>
          <a:noFill/>
          <a:ln cap="flat" cmpd="sng" w="100425">
            <a:solidFill>
              <a:srgbClr val="729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62"/>
          <p:cNvSpPr/>
          <p:nvPr/>
        </p:nvSpPr>
        <p:spPr>
          <a:xfrm>
            <a:off x="3171600" y="2028600"/>
            <a:ext cx="1722600" cy="762120"/>
          </a:xfrm>
          <a:prstGeom prst="ellipse">
            <a:avLst/>
          </a:prstGeom>
          <a:noFill/>
          <a:ln cap="flat" cmpd="sng" w="100425">
            <a:solidFill>
              <a:srgbClr val="729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62"/>
          <p:cNvSpPr txBox="1"/>
          <p:nvPr/>
        </p:nvSpPr>
        <p:spPr>
          <a:xfrm>
            <a:off x="8660160" y="4533840"/>
            <a:ext cx="8031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729FCF"/>
                </a:solidFill>
                <a:latin typeface="Arial"/>
                <a:ea typeface="Arial"/>
                <a:cs typeface="Arial"/>
                <a:sym typeface="Arial"/>
              </a:rPr>
              <a:t>B’C’D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3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Don’t Care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63"/>
          <p:cNvSpPr txBox="1"/>
          <p:nvPr/>
        </p:nvSpPr>
        <p:spPr>
          <a:xfrm>
            <a:off x="733320" y="792720"/>
            <a:ext cx="8650800" cy="6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lang="en-US" sz="4000" strike="noStrike">
                <a:latin typeface="Times New Roman"/>
                <a:ea typeface="Times New Roman"/>
                <a:cs typeface="Times New Roman"/>
                <a:sym typeface="Times New Roman"/>
              </a:rPr>
              <a:t>Σ</a:t>
            </a:r>
            <a:r>
              <a:rPr b="0" lang="en-US" sz="1800" strike="noStrike"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b="0" lang="en-US" sz="2600" strike="noStrike">
                <a:latin typeface="Times New Roman"/>
                <a:ea typeface="Times New Roman"/>
                <a:cs typeface="Times New Roman"/>
                <a:sym typeface="Times New Roman"/>
              </a:rPr>
              <a:t>(6,9,13,18,19,25,27,29,31) </a:t>
            </a:r>
            <a:r>
              <a:rPr b="0" lang="en-US" sz="3200" strike="noStrike">
                <a:latin typeface="Times New Roman"/>
                <a:ea typeface="Times New Roman"/>
                <a:cs typeface="Times New Roman"/>
                <a:sym typeface="Times New Roman"/>
              </a:rPr>
              <a:t>+ d(2,3,11,15,17,24,28)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4" name="Google Shape;384;p63"/>
          <p:cNvGraphicFramePr/>
          <p:nvPr/>
        </p:nvGraphicFramePr>
        <p:xfrm>
          <a:off x="237240" y="1756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932400"/>
                <a:gridCol w="932400"/>
                <a:gridCol w="932400"/>
                <a:gridCol w="932400"/>
                <a:gridCol w="933475"/>
              </a:tblGrid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BC\DE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5" name="Google Shape;385;p63"/>
          <p:cNvGraphicFramePr/>
          <p:nvPr/>
        </p:nvGraphicFramePr>
        <p:xfrm>
          <a:off x="5151960" y="1796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932400"/>
                <a:gridCol w="932400"/>
                <a:gridCol w="932400"/>
                <a:gridCol w="932400"/>
                <a:gridCol w="933475"/>
              </a:tblGrid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BC\DE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6" name="Google Shape;386;p63"/>
          <p:cNvSpPr txBox="1"/>
          <p:nvPr/>
        </p:nvSpPr>
        <p:spPr>
          <a:xfrm>
            <a:off x="2381400" y="1398240"/>
            <a:ext cx="594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A=0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63"/>
          <p:cNvSpPr txBox="1"/>
          <p:nvPr/>
        </p:nvSpPr>
        <p:spPr>
          <a:xfrm>
            <a:off x="7385400" y="1398240"/>
            <a:ext cx="594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A=1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63"/>
          <p:cNvSpPr/>
          <p:nvPr/>
        </p:nvSpPr>
        <p:spPr>
          <a:xfrm>
            <a:off x="6123600" y="3000240"/>
            <a:ext cx="1722600" cy="1319760"/>
          </a:xfrm>
          <a:prstGeom prst="ellipse">
            <a:avLst/>
          </a:prstGeom>
          <a:noFill/>
          <a:ln cap="flat" cmpd="sng" w="1004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63"/>
          <p:cNvSpPr txBox="1"/>
          <p:nvPr/>
        </p:nvSpPr>
        <p:spPr>
          <a:xfrm>
            <a:off x="6649560" y="4533120"/>
            <a:ext cx="6508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ABD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63"/>
          <p:cNvSpPr/>
          <p:nvPr/>
        </p:nvSpPr>
        <p:spPr>
          <a:xfrm rot="5225400">
            <a:off x="3566880" y="2496240"/>
            <a:ext cx="1722600" cy="762120"/>
          </a:xfrm>
          <a:prstGeom prst="ellipse">
            <a:avLst/>
          </a:prstGeom>
          <a:noFill/>
          <a:ln cap="flat" cmpd="sng" w="100425">
            <a:solidFill>
              <a:srgbClr val="00A9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63"/>
          <p:cNvSpPr txBox="1"/>
          <p:nvPr/>
        </p:nvSpPr>
        <p:spPr>
          <a:xfrm>
            <a:off x="4124160" y="4540320"/>
            <a:ext cx="10065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00A933"/>
                </a:solidFill>
                <a:latin typeface="Arial"/>
                <a:ea typeface="Arial"/>
                <a:cs typeface="Arial"/>
                <a:sym typeface="Arial"/>
              </a:rPr>
              <a:t>A’B’DE’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4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Five variable K-Map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7" name="Google Shape;397;p64"/>
          <p:cNvGraphicFramePr/>
          <p:nvPr/>
        </p:nvGraphicFramePr>
        <p:xfrm>
          <a:off x="236880" y="1395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932400"/>
                <a:gridCol w="932400"/>
                <a:gridCol w="932400"/>
                <a:gridCol w="932400"/>
                <a:gridCol w="933475"/>
              </a:tblGrid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BC\DE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8" name="Google Shape;398;p64"/>
          <p:cNvGraphicFramePr/>
          <p:nvPr/>
        </p:nvGraphicFramePr>
        <p:xfrm>
          <a:off x="5205240" y="1396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{71CA323C-8B54-453D-A8EE-F0A0B8B34540}</a:tableStyleId>
              </a:tblPr>
              <a:tblGrid>
                <a:gridCol w="932400"/>
                <a:gridCol w="932400"/>
                <a:gridCol w="932400"/>
                <a:gridCol w="932400"/>
                <a:gridCol w="933475"/>
              </a:tblGrid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BC\DE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9" name="Google Shape;399;p64"/>
          <p:cNvSpPr txBox="1"/>
          <p:nvPr/>
        </p:nvSpPr>
        <p:spPr>
          <a:xfrm>
            <a:off x="2381400" y="966240"/>
            <a:ext cx="594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A=0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64"/>
          <p:cNvSpPr txBox="1"/>
          <p:nvPr/>
        </p:nvSpPr>
        <p:spPr>
          <a:xfrm>
            <a:off x="7385400" y="966240"/>
            <a:ext cx="594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A=1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64"/>
          <p:cNvSpPr txBox="1"/>
          <p:nvPr/>
        </p:nvSpPr>
        <p:spPr>
          <a:xfrm>
            <a:off x="1385280" y="4360680"/>
            <a:ext cx="7364520" cy="6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lang="en-US" sz="4000" strike="noStrike">
                <a:latin typeface="Times New Roman"/>
                <a:ea typeface="Times New Roman"/>
                <a:cs typeface="Times New Roman"/>
                <a:sym typeface="Times New Roman"/>
              </a:rPr>
              <a:t>Σ</a:t>
            </a:r>
            <a:r>
              <a:rPr b="0" lang="en-US" sz="1800" strike="noStrike"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b="0" lang="en-US" sz="2600" strike="noStrike">
                <a:latin typeface="Times New Roman"/>
                <a:ea typeface="Times New Roman"/>
                <a:cs typeface="Times New Roman"/>
                <a:sym typeface="Times New Roman"/>
              </a:rPr>
              <a:t>(0,1,2,4,7,8,12,14,15,16,17,18,20,24,28,30,31)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64"/>
          <p:cNvSpPr txBox="1"/>
          <p:nvPr/>
        </p:nvSpPr>
        <p:spPr>
          <a:xfrm>
            <a:off x="1663560" y="5245560"/>
            <a:ext cx="44143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F = D’E’ + BCD + B’C’E’ + B’C’D’ + A’CDE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
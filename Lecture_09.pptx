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DB0243-2B03-46E0-ADF8-D08671C6E78F}">
  <a:tblStyle styleId="{A8DB0243-2B03-46E0-ADF8-D08671C6E7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2"/>
          <p:cNvSpPr txBox="1"/>
          <p:nvPr>
            <p:ph idx="1" type="subTitle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3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4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4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4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>
            <p:ph idx="1" type="subTitle"/>
          </p:nvPr>
        </p:nvSpPr>
        <p:spPr>
          <a:xfrm>
            <a:off x="144000" y="3888000"/>
            <a:ext cx="9000000" cy="30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2" type="body"/>
          </p:nvPr>
        </p:nvSpPr>
        <p:spPr>
          <a:xfrm>
            <a:off x="490428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7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1584000" y="648000"/>
            <a:ext cx="316188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8"/>
          <p:cNvSpPr txBox="1"/>
          <p:nvPr>
            <p:ph idx="3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9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9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3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0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" type="body"/>
          </p:nvPr>
        </p:nvSpPr>
        <p:spPr>
          <a:xfrm>
            <a:off x="1584000" y="64800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50"/>
          <p:cNvSpPr txBox="1"/>
          <p:nvPr>
            <p:ph idx="2" type="body"/>
          </p:nvPr>
        </p:nvSpPr>
        <p:spPr>
          <a:xfrm>
            <a:off x="1584000" y="2005560"/>
            <a:ext cx="647964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1"/>
          <p:cNvSpPr txBox="1"/>
          <p:nvPr>
            <p:ph idx="1" type="body"/>
          </p:nvPr>
        </p:nvSpPr>
        <p:spPr>
          <a:xfrm>
            <a:off x="158400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1"/>
          <p:cNvSpPr txBox="1"/>
          <p:nvPr>
            <p:ph idx="2" type="body"/>
          </p:nvPr>
        </p:nvSpPr>
        <p:spPr>
          <a:xfrm>
            <a:off x="4904280" y="64800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3" type="body"/>
          </p:nvPr>
        </p:nvSpPr>
        <p:spPr>
          <a:xfrm>
            <a:off x="158400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4" type="body"/>
          </p:nvPr>
        </p:nvSpPr>
        <p:spPr>
          <a:xfrm>
            <a:off x="4904280" y="2005560"/>
            <a:ext cx="316188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2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2"/>
          <p:cNvSpPr txBox="1"/>
          <p:nvPr>
            <p:ph idx="1" type="body"/>
          </p:nvPr>
        </p:nvSpPr>
        <p:spPr>
          <a:xfrm>
            <a:off x="158400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2"/>
          <p:cNvSpPr txBox="1"/>
          <p:nvPr>
            <p:ph idx="2" type="body"/>
          </p:nvPr>
        </p:nvSpPr>
        <p:spPr>
          <a:xfrm>
            <a:off x="377496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3" type="body"/>
          </p:nvPr>
        </p:nvSpPr>
        <p:spPr>
          <a:xfrm>
            <a:off x="5965920" y="64800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4" type="body"/>
          </p:nvPr>
        </p:nvSpPr>
        <p:spPr>
          <a:xfrm>
            <a:off x="158400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5" type="body"/>
          </p:nvPr>
        </p:nvSpPr>
        <p:spPr>
          <a:xfrm>
            <a:off x="377496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6" type="body"/>
          </p:nvPr>
        </p:nvSpPr>
        <p:spPr>
          <a:xfrm>
            <a:off x="5965920" y="2005560"/>
            <a:ext cx="2086200" cy="12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40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40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40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40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0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0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0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0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3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3"/>
          <p:cNvSpPr txBox="1"/>
          <p:nvPr/>
        </p:nvSpPr>
        <p:spPr>
          <a:xfrm>
            <a:off x="3621600" y="3200400"/>
            <a:ext cx="28238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9 : Karnaugh Map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Min terms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54"/>
          <p:cNvGraphicFramePr/>
          <p:nvPr/>
        </p:nvGraphicFramePr>
        <p:xfrm>
          <a:off x="2553480" y="1646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5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Min terms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7" name="Google Shape;257;p55"/>
          <p:cNvGraphicFramePr/>
          <p:nvPr/>
        </p:nvGraphicFramePr>
        <p:xfrm>
          <a:off x="1653480" y="1646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6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Min terms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56"/>
          <p:cNvGraphicFramePr/>
          <p:nvPr/>
        </p:nvGraphicFramePr>
        <p:xfrm>
          <a:off x="1653480" y="1646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1650"/>
                <a:gridCol w="1692350"/>
              </a:tblGrid>
              <a:tr h="34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7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Max terms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9" name="Google Shape;269;p57"/>
          <p:cNvGraphicFramePr/>
          <p:nvPr/>
        </p:nvGraphicFramePr>
        <p:xfrm>
          <a:off x="1653840" y="164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8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Relation in between m</a:t>
            </a:r>
            <a:r>
              <a:rPr b="0" lang="en-US" sz="2400" strike="noStrike"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 &amp; M</a:t>
            </a:r>
            <a:r>
              <a:rPr b="0" lang="en-US" sz="2600" strike="noStrike">
                <a:latin typeface="Arial"/>
                <a:ea typeface="Arial"/>
                <a:cs typeface="Arial"/>
                <a:sym typeface="Arial"/>
              </a:rPr>
              <a:t>i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8"/>
          <p:cNvSpPr txBox="1"/>
          <p:nvPr/>
        </p:nvSpPr>
        <p:spPr>
          <a:xfrm>
            <a:off x="8169120" y="1492200"/>
            <a:ext cx="12445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 +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8"/>
          <p:cNvSpPr txBox="1"/>
          <p:nvPr/>
        </p:nvSpPr>
        <p:spPr>
          <a:xfrm>
            <a:off x="4065120" y="1492200"/>
            <a:ext cx="1262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A’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8"/>
          <p:cNvSpPr txBox="1"/>
          <p:nvPr/>
        </p:nvSpPr>
        <p:spPr>
          <a:xfrm>
            <a:off x="8169120" y="2068200"/>
            <a:ext cx="12949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8"/>
          <p:cNvSpPr txBox="1"/>
          <p:nvPr/>
        </p:nvSpPr>
        <p:spPr>
          <a:xfrm>
            <a:off x="4065120" y="2068200"/>
            <a:ext cx="12124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A’ .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8"/>
          <p:cNvSpPr txBox="1"/>
          <p:nvPr/>
        </p:nvSpPr>
        <p:spPr>
          <a:xfrm>
            <a:off x="8169120" y="2680200"/>
            <a:ext cx="12826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A’ +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8"/>
          <p:cNvSpPr txBox="1"/>
          <p:nvPr/>
        </p:nvSpPr>
        <p:spPr>
          <a:xfrm>
            <a:off x="4065120" y="2680200"/>
            <a:ext cx="12247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 .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8"/>
          <p:cNvSpPr txBox="1"/>
          <p:nvPr/>
        </p:nvSpPr>
        <p:spPr>
          <a:xfrm>
            <a:off x="8205120" y="3328200"/>
            <a:ext cx="13330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A’ + 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8"/>
          <p:cNvSpPr txBox="1"/>
          <p:nvPr/>
        </p:nvSpPr>
        <p:spPr>
          <a:xfrm>
            <a:off x="4101120" y="3328200"/>
            <a:ext cx="1174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lang="en-US" sz="1000" strike="noStrike"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 = A . 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8"/>
          <p:cNvSpPr txBox="1"/>
          <p:nvPr/>
        </p:nvSpPr>
        <p:spPr>
          <a:xfrm>
            <a:off x="635040" y="1506960"/>
            <a:ext cx="434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8"/>
          <p:cNvSpPr txBox="1"/>
          <p:nvPr/>
        </p:nvSpPr>
        <p:spPr>
          <a:xfrm>
            <a:off x="635040" y="2046960"/>
            <a:ext cx="434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01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8"/>
          <p:cNvSpPr txBox="1"/>
          <p:nvPr/>
        </p:nvSpPr>
        <p:spPr>
          <a:xfrm>
            <a:off x="635040" y="2694960"/>
            <a:ext cx="4348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10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8"/>
          <p:cNvSpPr txBox="1"/>
          <p:nvPr/>
        </p:nvSpPr>
        <p:spPr>
          <a:xfrm>
            <a:off x="635040" y="3342960"/>
            <a:ext cx="4179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11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8"/>
          <p:cNvSpPr txBox="1"/>
          <p:nvPr/>
        </p:nvSpPr>
        <p:spPr>
          <a:xfrm>
            <a:off x="635040" y="1074960"/>
            <a:ext cx="4856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58"/>
          <p:cNvCxnSpPr/>
          <p:nvPr/>
        </p:nvCxnSpPr>
        <p:spPr>
          <a:xfrm>
            <a:off x="1105920" y="1650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58"/>
          <p:cNvCxnSpPr/>
          <p:nvPr/>
        </p:nvCxnSpPr>
        <p:spPr>
          <a:xfrm>
            <a:off x="5351400" y="1650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58"/>
          <p:cNvCxnSpPr/>
          <p:nvPr/>
        </p:nvCxnSpPr>
        <p:spPr>
          <a:xfrm>
            <a:off x="1103400" y="2226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58"/>
          <p:cNvCxnSpPr/>
          <p:nvPr/>
        </p:nvCxnSpPr>
        <p:spPr>
          <a:xfrm>
            <a:off x="1100880" y="2874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58"/>
          <p:cNvCxnSpPr/>
          <p:nvPr/>
        </p:nvCxnSpPr>
        <p:spPr>
          <a:xfrm>
            <a:off x="1098360" y="3522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58"/>
          <p:cNvCxnSpPr/>
          <p:nvPr/>
        </p:nvCxnSpPr>
        <p:spPr>
          <a:xfrm>
            <a:off x="5348880" y="2262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58"/>
          <p:cNvCxnSpPr/>
          <p:nvPr/>
        </p:nvCxnSpPr>
        <p:spPr>
          <a:xfrm>
            <a:off x="5346360" y="2874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58"/>
          <p:cNvCxnSpPr/>
          <p:nvPr/>
        </p:nvCxnSpPr>
        <p:spPr>
          <a:xfrm>
            <a:off x="5343840" y="3486960"/>
            <a:ext cx="2835360" cy="0"/>
          </a:xfrm>
          <a:prstGeom prst="straightConnector1">
            <a:avLst/>
          </a:prstGeom>
          <a:noFill/>
          <a:ln cap="flat" cmpd="sng" w="108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9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SoP and PoS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" name="Google Shape;301;p59"/>
          <p:cNvGraphicFramePr/>
          <p:nvPr/>
        </p:nvGraphicFramePr>
        <p:xfrm>
          <a:off x="825840" y="9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59"/>
          <p:cNvSpPr txBox="1"/>
          <p:nvPr/>
        </p:nvSpPr>
        <p:spPr>
          <a:xfrm>
            <a:off x="1364760" y="3476160"/>
            <a:ext cx="14778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A’B’ + AB’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9"/>
          <p:cNvSpPr txBox="1"/>
          <p:nvPr/>
        </p:nvSpPr>
        <p:spPr>
          <a:xfrm>
            <a:off x="6225120" y="3476160"/>
            <a:ext cx="18237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(A+B’)(A’+B’)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0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Karnaugh Map For Two Variables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" name="Google Shape;309;p60"/>
          <p:cNvGraphicFramePr/>
          <p:nvPr/>
        </p:nvGraphicFramePr>
        <p:xfrm>
          <a:off x="826200" y="92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Minterm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A’+B’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= AB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0" name="Google Shape;310;p60"/>
          <p:cNvGraphicFramePr/>
          <p:nvPr/>
        </p:nvGraphicFramePr>
        <p:xfrm>
          <a:off x="2445480" y="323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1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Karnaugh Map For Two Variables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" name="Google Shape;316;p61"/>
          <p:cNvGraphicFramePr/>
          <p:nvPr/>
        </p:nvGraphicFramePr>
        <p:xfrm>
          <a:off x="2445480" y="179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b="0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2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Express function in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" name="Google Shape;322;p62"/>
          <p:cNvGraphicFramePr/>
          <p:nvPr/>
        </p:nvGraphicFramePr>
        <p:xfrm>
          <a:off x="2445480" y="2402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62"/>
          <p:cNvSpPr txBox="1"/>
          <p:nvPr/>
        </p:nvSpPr>
        <p:spPr>
          <a:xfrm>
            <a:off x="4041360" y="1459440"/>
            <a:ext cx="1511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 = AB + A’B’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3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Express TT in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" name="Google Shape;329;p63"/>
          <p:cNvGraphicFramePr/>
          <p:nvPr/>
        </p:nvGraphicFramePr>
        <p:xfrm>
          <a:off x="2445480" y="3194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0" name="Google Shape;330;p63"/>
          <p:cNvGraphicFramePr/>
          <p:nvPr/>
        </p:nvGraphicFramePr>
        <p:xfrm>
          <a:off x="2441160" y="122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1691650"/>
                <a:gridCol w="1691650"/>
                <a:gridCol w="16923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4"/>
          <p:cNvSpPr txBox="1"/>
          <p:nvPr/>
        </p:nvSpPr>
        <p:spPr>
          <a:xfrm>
            <a:off x="144000" y="36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Reduce through K-Map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64"/>
          <p:cNvGraphicFramePr/>
          <p:nvPr/>
        </p:nvGraphicFramePr>
        <p:xfrm>
          <a:off x="1526760" y="1874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{A8DB0243-2B03-46E0-ADF8-D08671C6E78F}</a:tableStyleId>
              </a:tblPr>
              <a:tblGrid>
                <a:gridCol w="2045525"/>
                <a:gridCol w="2045525"/>
                <a:gridCol w="2046950"/>
              </a:tblGrid>
              <a:tr h="78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A\B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
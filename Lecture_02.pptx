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4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6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6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6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7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8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9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9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9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3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4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7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7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7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8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9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0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0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1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2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2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2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2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2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920" y="462888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859200" y="5324400"/>
            <a:ext cx="6240240" cy="7200"/>
          </a:xfrm>
          <a:custGeom>
            <a:rect b="b" l="l" r="r" t="t"/>
            <a:pathLst>
              <a:path extrusionOk="0" h="22" w="17335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044960" y="4944960"/>
            <a:ext cx="7200" cy="487440"/>
          </a:xfrm>
          <a:custGeom>
            <a:rect b="b" l="l" r="r" t="t"/>
            <a:pathLst>
              <a:path extrusionOk="0" h="1356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0" name="Google Shape;180;p40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1" name="Google Shape;181;p40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2" name="Google Shape;182;p40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3" name="Google Shape;183;p40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40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0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0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0"/>
          <p:cNvSpPr/>
          <p:nvPr/>
        </p:nvSpPr>
        <p:spPr>
          <a:xfrm>
            <a:off x="5644080" y="519480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0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0"/>
          <p:cNvSpPr/>
          <p:nvPr/>
        </p:nvSpPr>
        <p:spPr>
          <a:xfrm>
            <a:off x="974160" y="519444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0"/>
          <p:cNvSpPr/>
          <p:nvPr/>
        </p:nvSpPr>
        <p:spPr>
          <a:xfrm>
            <a:off x="4590000" y="491400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0"/>
          <p:cNvSpPr/>
          <p:nvPr/>
        </p:nvSpPr>
        <p:spPr>
          <a:xfrm>
            <a:off x="5055480" y="1037160"/>
            <a:ext cx="10800" cy="3700800"/>
          </a:xfrm>
          <a:custGeom>
            <a:rect b="b" l="l" r="r" t="t"/>
            <a:pathLst>
              <a:path extrusionOk="0" h="10282" w="3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3"/>
          <p:cNvSpPr txBox="1"/>
          <p:nvPr/>
        </p:nvSpPr>
        <p:spPr>
          <a:xfrm>
            <a:off x="228600" y="16002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Switching Circuit &amp; Logic Design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3"/>
          <p:cNvSpPr txBox="1"/>
          <p:nvPr/>
        </p:nvSpPr>
        <p:spPr>
          <a:xfrm>
            <a:off x="2505600" y="3200400"/>
            <a:ext cx="46148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Lecture 1 : Characteristics of Logic Families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4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Things to cover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4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Introduction to Logic family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What is Fan-out ?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What is Noise Margin ?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5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Introduction to Logic Families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5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RTL – Resistor Transistor Logic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DTL – Diode Transistor Logic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TTL – Transistor Transistor Logic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ECL – Emitter Coupled Logic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CMOS – Complementary Metal-oxide Semiconductor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6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Introduction to Logic Families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6"/>
          <p:cNvSpPr txBox="1"/>
          <p:nvPr/>
        </p:nvSpPr>
        <p:spPr>
          <a:xfrm>
            <a:off x="1371600" y="1828800"/>
            <a:ext cx="1303920" cy="45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Fan out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6"/>
          <p:cNvSpPr txBox="1"/>
          <p:nvPr/>
        </p:nvSpPr>
        <p:spPr>
          <a:xfrm>
            <a:off x="1371960" y="2404800"/>
            <a:ext cx="2335680" cy="45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Voltage Levels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6"/>
          <p:cNvSpPr txBox="1"/>
          <p:nvPr/>
        </p:nvSpPr>
        <p:spPr>
          <a:xfrm>
            <a:off x="1371960" y="3016800"/>
            <a:ext cx="1139400" cy="45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Speed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6"/>
          <p:cNvSpPr txBox="1"/>
          <p:nvPr/>
        </p:nvSpPr>
        <p:spPr>
          <a:xfrm>
            <a:off x="1371960" y="3556800"/>
            <a:ext cx="3163320" cy="45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Power Consumption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6"/>
          <p:cNvSpPr txBox="1"/>
          <p:nvPr/>
        </p:nvSpPr>
        <p:spPr>
          <a:xfrm>
            <a:off x="1371960" y="4096800"/>
            <a:ext cx="2131560" cy="45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FF3838"/>
                </a:solidFill>
                <a:latin typeface="Arial"/>
                <a:ea typeface="Arial"/>
                <a:cs typeface="Arial"/>
                <a:sym typeface="Arial"/>
              </a:rPr>
              <a:t>Noise Margin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7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Fan-out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280" y="1053720"/>
            <a:ext cx="8907120" cy="4122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8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Fan-out: Current Sink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280" y="1053720"/>
            <a:ext cx="8907120" cy="412272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8"/>
          <p:cNvSpPr txBox="1"/>
          <p:nvPr/>
        </p:nvSpPr>
        <p:spPr>
          <a:xfrm>
            <a:off x="7086600" y="4343400"/>
            <a:ext cx="13921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FO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L 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= I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OL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/ I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IL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8"/>
          <p:cNvSpPr/>
          <p:nvPr/>
        </p:nvSpPr>
        <p:spPr>
          <a:xfrm flipH="1">
            <a:off x="4800600" y="2743200"/>
            <a:ext cx="732240" cy="467640"/>
          </a:xfrm>
          <a:custGeom>
            <a:rect b="b" l="l" r="r" t="t"/>
            <a:pathLst>
              <a:path extrusionOk="0" h="854" w="841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58"/>
          <p:cNvSpPr/>
          <p:nvPr/>
        </p:nvSpPr>
        <p:spPr>
          <a:xfrm rot="10800000">
            <a:off x="4800600" y="3678840"/>
            <a:ext cx="732240" cy="268560"/>
          </a:xfrm>
          <a:custGeom>
            <a:rect b="b" l="l" r="r" t="t"/>
            <a:pathLst>
              <a:path extrusionOk="0" h="854" w="841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9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Fan-out: Current Source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280" y="1053720"/>
            <a:ext cx="8907120" cy="412272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9"/>
          <p:cNvSpPr txBox="1"/>
          <p:nvPr/>
        </p:nvSpPr>
        <p:spPr>
          <a:xfrm>
            <a:off x="7086600" y="4343400"/>
            <a:ext cx="14605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FO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H 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= I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OH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/ I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IH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9"/>
          <p:cNvSpPr/>
          <p:nvPr/>
        </p:nvSpPr>
        <p:spPr>
          <a:xfrm rot="-5357400">
            <a:off x="5135400" y="2814840"/>
            <a:ext cx="457200" cy="467640"/>
          </a:xfrm>
          <a:custGeom>
            <a:rect b="b" l="l" r="r" t="t"/>
            <a:pathLst>
              <a:path extrusionOk="0" h="854" w="841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59"/>
          <p:cNvSpPr/>
          <p:nvPr/>
        </p:nvSpPr>
        <p:spPr>
          <a:xfrm flipH="1" rot="-5373000">
            <a:off x="5050440" y="3569040"/>
            <a:ext cx="685800" cy="268560"/>
          </a:xfrm>
          <a:custGeom>
            <a:rect b="b" l="l" r="r" t="t"/>
            <a:pathLst>
              <a:path extrusionOk="0" h="854" w="841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0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Noise Margin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0"/>
          <p:cNvSpPr/>
          <p:nvPr/>
        </p:nvSpPr>
        <p:spPr>
          <a:xfrm>
            <a:off x="1600200" y="1828800"/>
            <a:ext cx="2342160" cy="914400"/>
          </a:xfrm>
          <a:prstGeom prst="rect">
            <a:avLst/>
          </a:prstGeom>
          <a:solidFill>
            <a:srgbClr val="FFFF00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0"/>
          <p:cNvSpPr/>
          <p:nvPr/>
        </p:nvSpPr>
        <p:spPr>
          <a:xfrm>
            <a:off x="1600200" y="2743200"/>
            <a:ext cx="2342160" cy="459720"/>
          </a:xfrm>
          <a:prstGeom prst="rect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0"/>
          <p:cNvSpPr/>
          <p:nvPr/>
        </p:nvSpPr>
        <p:spPr>
          <a:xfrm>
            <a:off x="1600200" y="3200400"/>
            <a:ext cx="2342160" cy="914400"/>
          </a:xfrm>
          <a:prstGeom prst="rect">
            <a:avLst/>
          </a:prstGeom>
          <a:solidFill>
            <a:srgbClr val="FF0000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0"/>
          <p:cNvSpPr/>
          <p:nvPr/>
        </p:nvSpPr>
        <p:spPr>
          <a:xfrm>
            <a:off x="5764320" y="1828800"/>
            <a:ext cx="1900080" cy="457200"/>
          </a:xfrm>
          <a:prstGeom prst="rect">
            <a:avLst/>
          </a:prstGeom>
          <a:solidFill>
            <a:srgbClr val="FFFF00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0"/>
          <p:cNvSpPr/>
          <p:nvPr/>
        </p:nvSpPr>
        <p:spPr>
          <a:xfrm>
            <a:off x="5764320" y="2286000"/>
            <a:ext cx="1900080" cy="1371600"/>
          </a:xfrm>
          <a:prstGeom prst="rect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0"/>
          <p:cNvSpPr/>
          <p:nvPr/>
        </p:nvSpPr>
        <p:spPr>
          <a:xfrm>
            <a:off x="5764320" y="3657600"/>
            <a:ext cx="1900080" cy="457200"/>
          </a:xfrm>
          <a:prstGeom prst="rect">
            <a:avLst/>
          </a:prstGeom>
          <a:solidFill>
            <a:srgbClr val="FF0000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0"/>
          <p:cNvSpPr txBox="1"/>
          <p:nvPr/>
        </p:nvSpPr>
        <p:spPr>
          <a:xfrm>
            <a:off x="3938760" y="2548800"/>
            <a:ext cx="68184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IH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0"/>
          <p:cNvSpPr txBox="1"/>
          <p:nvPr/>
        </p:nvSpPr>
        <p:spPr>
          <a:xfrm>
            <a:off x="3938760" y="3040920"/>
            <a:ext cx="64980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IL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0"/>
          <p:cNvSpPr txBox="1"/>
          <p:nvPr/>
        </p:nvSpPr>
        <p:spPr>
          <a:xfrm>
            <a:off x="5209200" y="2144520"/>
            <a:ext cx="631800" cy="56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OH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0"/>
          <p:cNvSpPr txBox="1"/>
          <p:nvPr/>
        </p:nvSpPr>
        <p:spPr>
          <a:xfrm>
            <a:off x="5209200" y="3501360"/>
            <a:ext cx="605520" cy="56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OL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1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Noise Margin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1"/>
          <p:cNvSpPr/>
          <p:nvPr/>
        </p:nvSpPr>
        <p:spPr>
          <a:xfrm>
            <a:off x="7108200" y="1828800"/>
            <a:ext cx="2342160" cy="914400"/>
          </a:xfrm>
          <a:prstGeom prst="rect">
            <a:avLst/>
          </a:prstGeom>
          <a:solidFill>
            <a:srgbClr val="FFFF00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1"/>
          <p:cNvSpPr/>
          <p:nvPr/>
        </p:nvSpPr>
        <p:spPr>
          <a:xfrm>
            <a:off x="7108200" y="2743200"/>
            <a:ext cx="2342160" cy="459720"/>
          </a:xfrm>
          <a:prstGeom prst="rect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1"/>
          <p:cNvSpPr/>
          <p:nvPr/>
        </p:nvSpPr>
        <p:spPr>
          <a:xfrm>
            <a:off x="7108200" y="3200400"/>
            <a:ext cx="2342160" cy="914400"/>
          </a:xfrm>
          <a:prstGeom prst="rect">
            <a:avLst/>
          </a:prstGeom>
          <a:solidFill>
            <a:srgbClr val="FF0000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1"/>
          <p:cNvSpPr/>
          <p:nvPr/>
        </p:nvSpPr>
        <p:spPr>
          <a:xfrm>
            <a:off x="652320" y="1828800"/>
            <a:ext cx="1900080" cy="457200"/>
          </a:xfrm>
          <a:prstGeom prst="rect">
            <a:avLst/>
          </a:prstGeom>
          <a:solidFill>
            <a:srgbClr val="FFFF00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1"/>
          <p:cNvSpPr/>
          <p:nvPr/>
        </p:nvSpPr>
        <p:spPr>
          <a:xfrm>
            <a:off x="652320" y="2286000"/>
            <a:ext cx="1900080" cy="1371600"/>
          </a:xfrm>
          <a:prstGeom prst="rect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1"/>
          <p:cNvSpPr/>
          <p:nvPr/>
        </p:nvSpPr>
        <p:spPr>
          <a:xfrm>
            <a:off x="652320" y="3657600"/>
            <a:ext cx="1900080" cy="457200"/>
          </a:xfrm>
          <a:prstGeom prst="rect">
            <a:avLst/>
          </a:prstGeom>
          <a:solidFill>
            <a:srgbClr val="FF0000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61"/>
          <p:cNvSpPr txBox="1"/>
          <p:nvPr/>
        </p:nvSpPr>
        <p:spPr>
          <a:xfrm>
            <a:off x="9410760" y="2548800"/>
            <a:ext cx="68184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IH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1"/>
          <p:cNvSpPr txBox="1"/>
          <p:nvPr/>
        </p:nvSpPr>
        <p:spPr>
          <a:xfrm>
            <a:off x="5954760" y="3256920"/>
            <a:ext cx="64980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IL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1"/>
          <p:cNvSpPr txBox="1"/>
          <p:nvPr/>
        </p:nvSpPr>
        <p:spPr>
          <a:xfrm>
            <a:off x="97200" y="2144520"/>
            <a:ext cx="631800" cy="56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OH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61"/>
          <p:cNvSpPr txBox="1"/>
          <p:nvPr/>
        </p:nvSpPr>
        <p:spPr>
          <a:xfrm>
            <a:off x="97200" y="3501360"/>
            <a:ext cx="605520" cy="56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OL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61"/>
          <p:cNvCxnSpPr/>
          <p:nvPr/>
        </p:nvCxnSpPr>
        <p:spPr>
          <a:xfrm>
            <a:off x="2514600" y="2286000"/>
            <a:ext cx="13716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61"/>
          <p:cNvCxnSpPr/>
          <p:nvPr/>
        </p:nvCxnSpPr>
        <p:spPr>
          <a:xfrm flipH="1" rot="10800000">
            <a:off x="2743560" y="2743200"/>
            <a:ext cx="4343040" cy="10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61"/>
          <p:cNvCxnSpPr/>
          <p:nvPr/>
        </p:nvCxnSpPr>
        <p:spPr>
          <a:xfrm>
            <a:off x="5718600" y="3222000"/>
            <a:ext cx="13716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61"/>
          <p:cNvCxnSpPr/>
          <p:nvPr/>
        </p:nvCxnSpPr>
        <p:spPr>
          <a:xfrm flipH="1" rot="10800000">
            <a:off x="2527560" y="3643200"/>
            <a:ext cx="4343040" cy="10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61"/>
          <p:cNvCxnSpPr/>
          <p:nvPr/>
        </p:nvCxnSpPr>
        <p:spPr>
          <a:xfrm>
            <a:off x="2971800" y="1600200"/>
            <a:ext cx="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" name="Google Shape;327;p61"/>
          <p:cNvCxnSpPr/>
          <p:nvPr/>
        </p:nvCxnSpPr>
        <p:spPr>
          <a:xfrm rot="10800000">
            <a:off x="2971800" y="2743200"/>
            <a:ext cx="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8" name="Google Shape;328;p61"/>
          <p:cNvCxnSpPr/>
          <p:nvPr/>
        </p:nvCxnSpPr>
        <p:spPr>
          <a:xfrm rot="10800000">
            <a:off x="6319800" y="3682080"/>
            <a:ext cx="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9" name="Google Shape;329;p61"/>
          <p:cNvCxnSpPr/>
          <p:nvPr/>
        </p:nvCxnSpPr>
        <p:spPr>
          <a:xfrm>
            <a:off x="6319800" y="2533680"/>
            <a:ext cx="0" cy="685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0" name="Google Shape;330;p61"/>
          <p:cNvSpPr txBox="1"/>
          <p:nvPr/>
        </p:nvSpPr>
        <p:spPr>
          <a:xfrm>
            <a:off x="2653560" y="2324520"/>
            <a:ext cx="631800" cy="56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OH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1"/>
          <p:cNvSpPr txBox="1"/>
          <p:nvPr/>
        </p:nvSpPr>
        <p:spPr>
          <a:xfrm>
            <a:off x="3110760" y="2333160"/>
            <a:ext cx="68184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-  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IH 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1"/>
          <p:cNvSpPr txBox="1"/>
          <p:nvPr/>
        </p:nvSpPr>
        <p:spPr>
          <a:xfrm>
            <a:off x="6253200" y="3249360"/>
            <a:ext cx="605520" cy="56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OL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1"/>
          <p:cNvSpPr txBox="1"/>
          <p:nvPr/>
        </p:nvSpPr>
        <p:spPr>
          <a:xfrm>
            <a:off x="9411120" y="3041280"/>
            <a:ext cx="649800" cy="57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050" strike="noStrike">
                <a:latin typeface="Arial"/>
                <a:ea typeface="Arial"/>
                <a:cs typeface="Arial"/>
                <a:sym typeface="Arial"/>
              </a:rPr>
              <a:t>IL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1"/>
          <p:cNvSpPr txBox="1"/>
          <p:nvPr/>
        </p:nvSpPr>
        <p:spPr>
          <a:xfrm>
            <a:off x="1143000" y="1456200"/>
            <a:ext cx="8668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Output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1"/>
          <p:cNvSpPr txBox="1"/>
          <p:nvPr/>
        </p:nvSpPr>
        <p:spPr>
          <a:xfrm>
            <a:off x="7947000" y="1456200"/>
            <a:ext cx="6890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Input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2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Resistor Transistor Logic (RTL)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2"/>
          <p:cNvSpPr/>
          <p:nvPr/>
        </p:nvSpPr>
        <p:spPr>
          <a:xfrm>
            <a:off x="2286000" y="1083600"/>
            <a:ext cx="228600" cy="22860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" name="Google Shape;342;p62"/>
          <p:cNvCxnSpPr/>
          <p:nvPr/>
        </p:nvCxnSpPr>
        <p:spPr>
          <a:xfrm>
            <a:off x="2394000" y="1312200"/>
            <a:ext cx="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62"/>
          <p:cNvSpPr/>
          <p:nvPr/>
        </p:nvSpPr>
        <p:spPr>
          <a:xfrm>
            <a:off x="2390400" y="1728720"/>
            <a:ext cx="152640" cy="726840"/>
          </a:xfrm>
          <a:custGeom>
            <a:rect b="b" l="l" r="r" t="t"/>
            <a:pathLst>
              <a:path extrusionOk="0" h="2019" w="424">
                <a:moveTo>
                  <a:pt x="78" y="94"/>
                </a:moveTo>
                <a:cubicBezTo>
                  <a:pt x="140" y="0"/>
                  <a:pt x="321" y="136"/>
                  <a:pt x="249" y="350"/>
                </a:cubicBezTo>
                <a:cubicBezTo>
                  <a:pt x="192" y="514"/>
                  <a:pt x="16" y="454"/>
                  <a:pt x="26" y="673"/>
                </a:cubicBezTo>
                <a:cubicBezTo>
                  <a:pt x="34" y="868"/>
                  <a:pt x="172" y="704"/>
                  <a:pt x="255" y="691"/>
                </a:cubicBezTo>
                <a:cubicBezTo>
                  <a:pt x="394" y="669"/>
                  <a:pt x="355" y="963"/>
                  <a:pt x="255" y="996"/>
                </a:cubicBezTo>
                <a:cubicBezTo>
                  <a:pt x="201" y="1015"/>
                  <a:pt x="0" y="1182"/>
                  <a:pt x="190" y="1302"/>
                </a:cubicBezTo>
                <a:cubicBezTo>
                  <a:pt x="248" y="1340"/>
                  <a:pt x="423" y="1470"/>
                  <a:pt x="301" y="1626"/>
                </a:cubicBezTo>
                <a:cubicBezTo>
                  <a:pt x="239" y="1706"/>
                  <a:pt x="110" y="1549"/>
                  <a:pt x="97" y="1728"/>
                </a:cubicBezTo>
                <a:cubicBezTo>
                  <a:pt x="84" y="1919"/>
                  <a:pt x="236" y="1875"/>
                  <a:pt x="301" y="1966"/>
                </a:cubicBezTo>
                <a:lnTo>
                  <a:pt x="327" y="2018"/>
                </a:ln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4" name="Google Shape;344;p62"/>
          <p:cNvCxnSpPr/>
          <p:nvPr/>
        </p:nvCxnSpPr>
        <p:spPr>
          <a:xfrm>
            <a:off x="2430000" y="2392200"/>
            <a:ext cx="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62"/>
          <p:cNvCxnSpPr/>
          <p:nvPr/>
        </p:nvCxnSpPr>
        <p:spPr>
          <a:xfrm>
            <a:off x="1143000" y="2840400"/>
            <a:ext cx="48006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62"/>
          <p:cNvSpPr/>
          <p:nvPr/>
        </p:nvSpPr>
        <p:spPr>
          <a:xfrm>
            <a:off x="5850000" y="2703600"/>
            <a:ext cx="228600" cy="22860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7" name="Google Shape;347;p62"/>
          <p:cNvCxnSpPr/>
          <p:nvPr/>
        </p:nvCxnSpPr>
        <p:spPr>
          <a:xfrm>
            <a:off x="1143000" y="2840400"/>
            <a:ext cx="0" cy="757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62"/>
          <p:cNvCxnSpPr/>
          <p:nvPr/>
        </p:nvCxnSpPr>
        <p:spPr>
          <a:xfrm>
            <a:off x="3699000" y="2840760"/>
            <a:ext cx="0" cy="757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62"/>
          <p:cNvCxnSpPr/>
          <p:nvPr/>
        </p:nvCxnSpPr>
        <p:spPr>
          <a:xfrm flipH="1">
            <a:off x="914400" y="3598200"/>
            <a:ext cx="228600" cy="2880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62"/>
          <p:cNvCxnSpPr/>
          <p:nvPr/>
        </p:nvCxnSpPr>
        <p:spPr>
          <a:xfrm flipH="1">
            <a:off x="3470760" y="3598200"/>
            <a:ext cx="228600" cy="2880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62"/>
          <p:cNvCxnSpPr/>
          <p:nvPr/>
        </p:nvCxnSpPr>
        <p:spPr>
          <a:xfrm>
            <a:off x="914400" y="3657600"/>
            <a:ext cx="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62"/>
          <p:cNvCxnSpPr/>
          <p:nvPr/>
        </p:nvCxnSpPr>
        <p:spPr>
          <a:xfrm>
            <a:off x="3470400" y="3657600"/>
            <a:ext cx="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62"/>
          <p:cNvCxnSpPr/>
          <p:nvPr/>
        </p:nvCxnSpPr>
        <p:spPr>
          <a:xfrm>
            <a:off x="914400" y="3886200"/>
            <a:ext cx="2286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4" name="Google Shape;354;p62"/>
          <p:cNvCxnSpPr/>
          <p:nvPr/>
        </p:nvCxnSpPr>
        <p:spPr>
          <a:xfrm>
            <a:off x="3467880" y="3883680"/>
            <a:ext cx="228600" cy="4572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5" name="Google Shape;355;p62"/>
          <p:cNvCxnSpPr/>
          <p:nvPr/>
        </p:nvCxnSpPr>
        <p:spPr>
          <a:xfrm>
            <a:off x="457200" y="3886200"/>
            <a:ext cx="4572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62"/>
          <p:cNvCxnSpPr/>
          <p:nvPr/>
        </p:nvCxnSpPr>
        <p:spPr>
          <a:xfrm>
            <a:off x="3013200" y="3886200"/>
            <a:ext cx="45720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62"/>
          <p:cNvCxnSpPr/>
          <p:nvPr/>
        </p:nvCxnSpPr>
        <p:spPr>
          <a:xfrm>
            <a:off x="1143000" y="4316760"/>
            <a:ext cx="0" cy="757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62"/>
          <p:cNvCxnSpPr/>
          <p:nvPr/>
        </p:nvCxnSpPr>
        <p:spPr>
          <a:xfrm>
            <a:off x="3699000" y="4317120"/>
            <a:ext cx="0" cy="75780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62"/>
          <p:cNvSpPr/>
          <p:nvPr/>
        </p:nvSpPr>
        <p:spPr>
          <a:xfrm>
            <a:off x="374400" y="3852720"/>
            <a:ext cx="152640" cy="726840"/>
          </a:xfrm>
          <a:custGeom>
            <a:rect b="b" l="l" r="r" t="t"/>
            <a:pathLst>
              <a:path extrusionOk="0" h="2019" w="424">
                <a:moveTo>
                  <a:pt x="78" y="94"/>
                </a:moveTo>
                <a:cubicBezTo>
                  <a:pt x="140" y="0"/>
                  <a:pt x="321" y="136"/>
                  <a:pt x="249" y="350"/>
                </a:cubicBezTo>
                <a:cubicBezTo>
                  <a:pt x="192" y="514"/>
                  <a:pt x="16" y="454"/>
                  <a:pt x="26" y="673"/>
                </a:cubicBezTo>
                <a:cubicBezTo>
                  <a:pt x="34" y="868"/>
                  <a:pt x="172" y="704"/>
                  <a:pt x="255" y="691"/>
                </a:cubicBezTo>
                <a:cubicBezTo>
                  <a:pt x="394" y="669"/>
                  <a:pt x="355" y="963"/>
                  <a:pt x="255" y="996"/>
                </a:cubicBezTo>
                <a:cubicBezTo>
                  <a:pt x="201" y="1015"/>
                  <a:pt x="0" y="1182"/>
                  <a:pt x="190" y="1302"/>
                </a:cubicBezTo>
                <a:cubicBezTo>
                  <a:pt x="248" y="1340"/>
                  <a:pt x="423" y="1470"/>
                  <a:pt x="301" y="1626"/>
                </a:cubicBezTo>
                <a:cubicBezTo>
                  <a:pt x="239" y="1706"/>
                  <a:pt x="110" y="1549"/>
                  <a:pt x="97" y="1728"/>
                </a:cubicBezTo>
                <a:cubicBezTo>
                  <a:pt x="84" y="1919"/>
                  <a:pt x="236" y="1875"/>
                  <a:pt x="301" y="1966"/>
                </a:cubicBezTo>
                <a:lnTo>
                  <a:pt x="327" y="2018"/>
                </a:ln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62"/>
          <p:cNvSpPr/>
          <p:nvPr/>
        </p:nvSpPr>
        <p:spPr>
          <a:xfrm>
            <a:off x="2930400" y="3852720"/>
            <a:ext cx="152640" cy="726840"/>
          </a:xfrm>
          <a:custGeom>
            <a:rect b="b" l="l" r="r" t="t"/>
            <a:pathLst>
              <a:path extrusionOk="0" h="2019" w="424">
                <a:moveTo>
                  <a:pt x="78" y="94"/>
                </a:moveTo>
                <a:cubicBezTo>
                  <a:pt x="140" y="0"/>
                  <a:pt x="321" y="136"/>
                  <a:pt x="249" y="350"/>
                </a:cubicBezTo>
                <a:cubicBezTo>
                  <a:pt x="192" y="514"/>
                  <a:pt x="16" y="454"/>
                  <a:pt x="26" y="673"/>
                </a:cubicBezTo>
                <a:cubicBezTo>
                  <a:pt x="34" y="868"/>
                  <a:pt x="172" y="704"/>
                  <a:pt x="255" y="691"/>
                </a:cubicBezTo>
                <a:cubicBezTo>
                  <a:pt x="394" y="669"/>
                  <a:pt x="355" y="963"/>
                  <a:pt x="255" y="996"/>
                </a:cubicBezTo>
                <a:cubicBezTo>
                  <a:pt x="201" y="1015"/>
                  <a:pt x="0" y="1182"/>
                  <a:pt x="190" y="1302"/>
                </a:cubicBezTo>
                <a:cubicBezTo>
                  <a:pt x="248" y="1340"/>
                  <a:pt x="423" y="1470"/>
                  <a:pt x="301" y="1626"/>
                </a:cubicBezTo>
                <a:cubicBezTo>
                  <a:pt x="239" y="1706"/>
                  <a:pt x="110" y="1549"/>
                  <a:pt x="97" y="1728"/>
                </a:cubicBezTo>
                <a:cubicBezTo>
                  <a:pt x="84" y="1919"/>
                  <a:pt x="236" y="1875"/>
                  <a:pt x="301" y="1966"/>
                </a:cubicBezTo>
                <a:lnTo>
                  <a:pt x="327" y="2018"/>
                </a:lnTo>
              </a:path>
            </a:pathLst>
          </a:cu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2"/>
          <p:cNvSpPr/>
          <p:nvPr/>
        </p:nvSpPr>
        <p:spPr>
          <a:xfrm>
            <a:off x="342000" y="4503600"/>
            <a:ext cx="228600" cy="22860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62"/>
          <p:cNvSpPr/>
          <p:nvPr/>
        </p:nvSpPr>
        <p:spPr>
          <a:xfrm>
            <a:off x="2898000" y="4503600"/>
            <a:ext cx="228600" cy="228600"/>
          </a:xfrm>
          <a:prstGeom prst="ellipse">
            <a:avLst/>
          </a:prstGeom>
          <a:solidFill>
            <a:srgbClr val="333333"/>
          </a:solidFill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62"/>
          <p:cNvSpPr txBox="1"/>
          <p:nvPr/>
        </p:nvSpPr>
        <p:spPr>
          <a:xfrm>
            <a:off x="806400" y="5124240"/>
            <a:ext cx="688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2"/>
          <p:cNvSpPr txBox="1"/>
          <p:nvPr/>
        </p:nvSpPr>
        <p:spPr>
          <a:xfrm>
            <a:off x="3326760" y="5124240"/>
            <a:ext cx="688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GND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2"/>
          <p:cNvSpPr txBox="1"/>
          <p:nvPr/>
        </p:nvSpPr>
        <p:spPr>
          <a:xfrm>
            <a:off x="2859120" y="472824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2"/>
          <p:cNvSpPr txBox="1"/>
          <p:nvPr/>
        </p:nvSpPr>
        <p:spPr>
          <a:xfrm>
            <a:off x="267120" y="472824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62"/>
          <p:cNvSpPr txBox="1"/>
          <p:nvPr/>
        </p:nvSpPr>
        <p:spPr>
          <a:xfrm>
            <a:off x="2066760" y="804240"/>
            <a:ext cx="513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cc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2"/>
          <p:cNvSpPr txBox="1"/>
          <p:nvPr/>
        </p:nvSpPr>
        <p:spPr>
          <a:xfrm>
            <a:off x="6171120" y="2640240"/>
            <a:ext cx="345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
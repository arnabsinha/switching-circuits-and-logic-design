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504000" y="132660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0400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57156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63912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50400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57156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63912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3" type="body"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504000" y="132660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2" type="body"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50400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357156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63912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50400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5" type="body"/>
          </p:nvPr>
        </p:nvSpPr>
        <p:spPr>
          <a:xfrm>
            <a:off x="357156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6" type="body"/>
          </p:nvPr>
        </p:nvSpPr>
        <p:spPr>
          <a:xfrm>
            <a:off x="663912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idx="1" type="subTitle"/>
          </p:nvPr>
        </p:nvSpPr>
        <p:spPr>
          <a:xfrm>
            <a:off x="144000" y="72000"/>
            <a:ext cx="9540000" cy="3004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6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3" type="body"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" type="body"/>
          </p:nvPr>
        </p:nvSpPr>
        <p:spPr>
          <a:xfrm>
            <a:off x="504000" y="132660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2" type="body"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9"/>
          <p:cNvSpPr txBox="1"/>
          <p:nvPr>
            <p:ph idx="1" type="body"/>
          </p:nvPr>
        </p:nvSpPr>
        <p:spPr>
          <a:xfrm>
            <a:off x="50400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9"/>
          <p:cNvSpPr txBox="1"/>
          <p:nvPr>
            <p:ph idx="2" type="body"/>
          </p:nvPr>
        </p:nvSpPr>
        <p:spPr>
          <a:xfrm>
            <a:off x="357156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body"/>
          </p:nvPr>
        </p:nvSpPr>
        <p:spPr>
          <a:xfrm>
            <a:off x="6639120" y="132660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9"/>
          <p:cNvSpPr txBox="1"/>
          <p:nvPr>
            <p:ph idx="4" type="body"/>
          </p:nvPr>
        </p:nvSpPr>
        <p:spPr>
          <a:xfrm>
            <a:off x="50400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5" type="body"/>
          </p:nvPr>
        </p:nvSpPr>
        <p:spPr>
          <a:xfrm>
            <a:off x="357156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6" type="body"/>
          </p:nvPr>
        </p:nvSpPr>
        <p:spPr>
          <a:xfrm>
            <a:off x="6639120" y="3044160"/>
            <a:ext cx="29210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920" y="462888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859200" y="5324400"/>
            <a:ext cx="6240240" cy="7200"/>
          </a:xfrm>
          <a:custGeom>
            <a:rect b="b" l="l" r="r" t="t"/>
            <a:pathLst>
              <a:path extrusionOk="0" h="22" w="17335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044960" y="4944960"/>
            <a:ext cx="7200" cy="487440"/>
          </a:xfrm>
          <a:custGeom>
            <a:rect b="b" l="l" r="r" t="t"/>
            <a:pathLst>
              <a:path extrusionOk="0" h="1356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900800" y="5204880"/>
            <a:ext cx="7465320" cy="7200"/>
          </a:xfrm>
          <a:custGeom>
            <a:rect b="b" l="l" r="r" t="t"/>
            <a:pathLst>
              <a:path extrusionOk="0" h="22" w="20739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400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20880" y="607320"/>
            <a:ext cx="6120000" cy="18000"/>
          </a:xfrm>
          <a:custGeom>
            <a:rect b="b" l="l" r="r" t="t"/>
            <a:pathLst>
              <a:path extrusionOk="0" h="52" w="1700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/>
          <p:nvPr/>
        </p:nvSpPr>
        <p:spPr>
          <a:xfrm>
            <a:off x="4430520" y="840960"/>
            <a:ext cx="5673960" cy="7200"/>
          </a:xfrm>
          <a:custGeom>
            <a:rect b="b" l="l" r="r" t="t"/>
            <a:pathLst>
              <a:path extrusionOk="0" h="22" w="15763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/>
          <p:nvPr/>
        </p:nvSpPr>
        <p:spPr>
          <a:xfrm>
            <a:off x="9819720" y="474480"/>
            <a:ext cx="7200" cy="493200"/>
          </a:xfrm>
          <a:custGeom>
            <a:rect b="b" l="l" r="r" t="t"/>
            <a:pathLst>
              <a:path extrusionOk="0" h="1371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7"/>
          <p:cNvSpPr/>
          <p:nvPr/>
        </p:nvSpPr>
        <p:spPr>
          <a:xfrm>
            <a:off x="5644080" y="519480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9259920" y="491724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7"/>
          <p:cNvSpPr/>
          <p:nvPr/>
        </p:nvSpPr>
        <p:spPr>
          <a:xfrm>
            <a:off x="974160" y="5194440"/>
            <a:ext cx="3722040" cy="7200"/>
          </a:xfrm>
          <a:custGeom>
            <a:rect b="b" l="l" r="r" t="t"/>
            <a:pathLst>
              <a:path extrusionOk="0" h="22" w="1034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4590000" y="4914000"/>
            <a:ext cx="7200" cy="349560"/>
          </a:xfrm>
          <a:custGeom>
            <a:rect b="b" l="l" r="r" t="t"/>
            <a:pathLst>
              <a:path extrusionOk="0" h="972" w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7"/>
          <p:cNvSpPr/>
          <p:nvPr/>
        </p:nvSpPr>
        <p:spPr>
          <a:xfrm>
            <a:off x="5055480" y="1037160"/>
            <a:ext cx="10800" cy="3700800"/>
          </a:xfrm>
          <a:custGeom>
            <a:rect b="b" l="l" r="r" t="t"/>
            <a:pathLst>
              <a:path extrusionOk="0" h="10282" w="3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www.geeksforgeeks.org/digital-logic/introduction-to-logic-family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hyperlink" Target="https://ethw.org/w/images/2/2f/Report-40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0"/>
          <p:cNvSpPr txBox="1"/>
          <p:nvPr/>
        </p:nvSpPr>
        <p:spPr>
          <a:xfrm>
            <a:off x="228600" y="1600200"/>
            <a:ext cx="9000000" cy="65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Circuit &amp; Logic Design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0"/>
          <p:cNvSpPr txBox="1"/>
          <p:nvPr/>
        </p:nvSpPr>
        <p:spPr>
          <a:xfrm>
            <a:off x="3585600" y="3200400"/>
            <a:ext cx="25189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Lecture 1 : Introduction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1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Things to cover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1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Digital Logic Families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Switching theory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Logic circuits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Sequential Circuits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</a:pPr>
            <a:r>
              <a:rPr b="0" lang="en-US" sz="3200" strike="noStrike">
                <a:latin typeface="Arial"/>
                <a:ea typeface="Arial"/>
                <a:cs typeface="Arial"/>
                <a:sym typeface="Arial"/>
              </a:rPr>
              <a:t>ASM chart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Digital Logic Families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320" y="930240"/>
            <a:ext cx="8562600" cy="42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2"/>
          <p:cNvSpPr txBox="1"/>
          <p:nvPr/>
        </p:nvSpPr>
        <p:spPr>
          <a:xfrm>
            <a:off x="914400" y="5306400"/>
            <a:ext cx="18324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Taken from </a:t>
            </a:r>
            <a:r>
              <a:rPr b="0" lang="en-US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here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Switching Theory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3"/>
          <p:cNvSpPr txBox="1"/>
          <p:nvPr/>
        </p:nvSpPr>
        <p:spPr>
          <a:xfrm>
            <a:off x="685800" y="1143000"/>
            <a:ext cx="38397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Akira Nakashima from Japan (1936)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3"/>
          <p:cNvSpPr txBox="1"/>
          <p:nvPr/>
        </p:nvSpPr>
        <p:spPr>
          <a:xfrm>
            <a:off x="685800" y="1467000"/>
            <a:ext cx="35100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Claude Shannon from US (1938)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3"/>
          <p:cNvSpPr txBox="1"/>
          <p:nvPr/>
        </p:nvSpPr>
        <p:spPr>
          <a:xfrm>
            <a:off x="685800" y="1791000"/>
            <a:ext cx="784728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Victor Sheshtakov from Soviet Union (1938 Ph.D. Thesis published in 1941)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4800" y="2186640"/>
            <a:ext cx="6143400" cy="293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3"/>
          <p:cNvSpPr txBox="1"/>
          <p:nvPr/>
        </p:nvSpPr>
        <p:spPr>
          <a:xfrm>
            <a:off x="2057400" y="5198400"/>
            <a:ext cx="6001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Link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Logic Circuits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240" y="976320"/>
            <a:ext cx="4003560" cy="1974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4"/>
          <p:cNvSpPr txBox="1"/>
          <p:nvPr/>
        </p:nvSpPr>
        <p:spPr>
          <a:xfrm>
            <a:off x="914400" y="1828800"/>
            <a:ext cx="1285920" cy="162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Decoder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ROM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PLA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FPGA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Etc.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2240" y="3064320"/>
            <a:ext cx="4046760" cy="1995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5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Sequential Circuits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5"/>
          <p:cNvSpPr txBox="1"/>
          <p:nvPr/>
        </p:nvSpPr>
        <p:spPr>
          <a:xfrm>
            <a:off x="1143000" y="2057400"/>
            <a:ext cx="3370320" cy="188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Synchronous vs. Asynchronous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Flip-flop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Latch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Counter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Shift Register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Finite-state machine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Etc.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8920" y="1961640"/>
            <a:ext cx="3695400" cy="22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6"/>
          <p:cNvSpPr txBox="1"/>
          <p:nvPr/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latin typeface="Arial"/>
                <a:ea typeface="Arial"/>
                <a:cs typeface="Arial"/>
                <a:sym typeface="Arial"/>
              </a:rPr>
              <a:t>Algorithmic State Machine charts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160" y="990000"/>
            <a:ext cx="5543280" cy="179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80" y="2900160"/>
            <a:ext cx="1536120" cy="191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9960" y="3232440"/>
            <a:ext cx="2857320" cy="14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6920" y="2912760"/>
            <a:ext cx="1571400" cy="190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6"/>
          <p:cNvSpPr txBox="1"/>
          <p:nvPr/>
        </p:nvSpPr>
        <p:spPr>
          <a:xfrm>
            <a:off x="937800" y="4825800"/>
            <a:ext cx="114660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State box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 txBox="1"/>
          <p:nvPr/>
        </p:nvSpPr>
        <p:spPr>
          <a:xfrm>
            <a:off x="4358160" y="4789800"/>
            <a:ext cx="148932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Decision box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 txBox="1"/>
          <p:nvPr/>
        </p:nvSpPr>
        <p:spPr>
          <a:xfrm>
            <a:off x="7634520" y="4861800"/>
            <a:ext cx="213804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latin typeface="Arial"/>
                <a:ea typeface="Arial"/>
                <a:cs typeface="Arial"/>
                <a:sym typeface="Arial"/>
              </a:rPr>
              <a:t>Conditional o/p box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
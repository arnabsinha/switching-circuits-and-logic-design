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4"/>
    <p:sldMasterId id="2147483697" r:id="rId5"/>
    <p:sldMasterId id="2147483698" r:id="rId6"/>
    <p:sldMasterId id="214748369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E7F7D6-2E43-4E2E-B1B5-E69537049E1D}">
  <a:tblStyle styleId="{80E7F7D6-2E43-4E2E-B1B5-E69537049E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4" name="Google Shape;184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5" name="Google Shape;185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3333600" y="3200400"/>
            <a:ext cx="32346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6 : Switching Algebra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Things to cover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 txBox="1"/>
          <p:nvPr/>
        </p:nvSpPr>
        <p:spPr>
          <a:xfrm>
            <a:off x="504000" y="914400"/>
            <a:ext cx="9071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Fundamental operators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Fundamental rules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Theorems → With PROOF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Book : Fundamentals of Digital Circuits, A. Anand Kumar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NOT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5"/>
          <p:cNvSpPr txBox="1"/>
          <p:nvPr/>
        </p:nvSpPr>
        <p:spPr>
          <a:xfrm>
            <a:off x="685800" y="1071000"/>
            <a:ext cx="41832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lang="en-US" sz="24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5"/>
          <p:cNvSpPr txBox="1"/>
          <p:nvPr/>
        </p:nvSpPr>
        <p:spPr>
          <a:xfrm>
            <a:off x="1909800" y="11448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9" name="Google Shape;259;p55"/>
          <p:cNvGraphicFramePr/>
          <p:nvPr/>
        </p:nvGraphicFramePr>
        <p:xfrm>
          <a:off x="2428560" y="2423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{80E7F7D6-2E43-4E2E-B1B5-E69537049E1D}</a:tableStyleId>
              </a:tblPr>
              <a:tblGrid>
                <a:gridCol w="2537650"/>
                <a:gridCol w="253800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AND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6"/>
          <p:cNvSpPr txBox="1"/>
          <p:nvPr/>
        </p:nvSpPr>
        <p:spPr>
          <a:xfrm>
            <a:off x="685800" y="1143000"/>
            <a:ext cx="7077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lang="en-US" sz="18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^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6"/>
          <p:cNvSpPr txBox="1"/>
          <p:nvPr/>
        </p:nvSpPr>
        <p:spPr>
          <a:xfrm>
            <a:off x="1909800" y="1144800"/>
            <a:ext cx="6652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lang="en-US" sz="18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6"/>
          <p:cNvSpPr txBox="1"/>
          <p:nvPr/>
        </p:nvSpPr>
        <p:spPr>
          <a:xfrm>
            <a:off x="3278160" y="1144800"/>
            <a:ext cx="981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lang="en-US" sz="18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8" name="Google Shape;268;p56"/>
          <p:cNvGraphicFramePr/>
          <p:nvPr/>
        </p:nvGraphicFramePr>
        <p:xfrm>
          <a:off x="2644560" y="189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{80E7F7D6-2E43-4E2E-B1B5-E69537049E1D}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A.B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7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7"/>
          <p:cNvSpPr txBox="1"/>
          <p:nvPr/>
        </p:nvSpPr>
        <p:spPr>
          <a:xfrm>
            <a:off x="685800" y="1143000"/>
            <a:ext cx="715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lang="en-US" sz="18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7"/>
          <p:cNvSpPr txBox="1"/>
          <p:nvPr/>
        </p:nvSpPr>
        <p:spPr>
          <a:xfrm>
            <a:off x="1909800" y="1144800"/>
            <a:ext cx="735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lang="en-US" sz="18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7"/>
          <p:cNvSpPr txBox="1"/>
          <p:nvPr/>
        </p:nvSpPr>
        <p:spPr>
          <a:xfrm>
            <a:off x="3278160" y="1144800"/>
            <a:ext cx="803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lang="en-US" sz="18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7" name="Google Shape;277;p57"/>
          <p:cNvGraphicFramePr/>
          <p:nvPr/>
        </p:nvGraphicFramePr>
        <p:xfrm>
          <a:off x="2716560" y="20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{80E7F7D6-2E43-4E2E-B1B5-E69537049E1D}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A+B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8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RULES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8"/>
          <p:cNvSpPr txBox="1"/>
          <p:nvPr/>
        </p:nvSpPr>
        <p:spPr>
          <a:xfrm>
            <a:off x="914400" y="1155600"/>
            <a:ext cx="499644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Associative Rule : 	A + (B + C) = (A + B) + 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	A . (B . C)   =  (A . B) . 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8"/>
          <p:cNvSpPr txBox="1"/>
          <p:nvPr/>
        </p:nvSpPr>
        <p:spPr>
          <a:xfrm>
            <a:off x="914400" y="1983600"/>
            <a:ext cx="500868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Distributive Rule : 	A . (B + C) = A . B + A . 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	A + B.C = (A + B).(A + C)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8"/>
          <p:cNvSpPr txBox="1"/>
          <p:nvPr/>
        </p:nvSpPr>
        <p:spPr>
          <a:xfrm>
            <a:off x="950760" y="2631600"/>
            <a:ext cx="383688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Commutative Rule : 	A + B = B +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	A . B  = B .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8"/>
          <p:cNvSpPr txBox="1"/>
          <p:nvPr/>
        </p:nvSpPr>
        <p:spPr>
          <a:xfrm>
            <a:off x="951120" y="3423960"/>
            <a:ext cx="339624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Identity :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AND Identity : 	A . 1 =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OR Identity   :	A + 0 =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	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8"/>
          <p:cNvSpPr txBox="1"/>
          <p:nvPr/>
        </p:nvSpPr>
        <p:spPr>
          <a:xfrm>
            <a:off x="5667120" y="3424320"/>
            <a:ext cx="246672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Complement :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A + A’ = 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A . A’  = 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	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8"/>
          <p:cNvSpPr txBox="1"/>
          <p:nvPr/>
        </p:nvSpPr>
        <p:spPr>
          <a:xfrm>
            <a:off x="6351120" y="1048680"/>
            <a:ext cx="246672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Idem-potence :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A + A =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A . A  =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	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8"/>
          <p:cNvSpPr txBox="1"/>
          <p:nvPr/>
        </p:nvSpPr>
        <p:spPr>
          <a:xfrm>
            <a:off x="7119000" y="2205000"/>
            <a:ext cx="182016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Absorption Law: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+ A . B =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. (A + B) = 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9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De Morgan’s Laws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9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(A + B)’ = A’ . B’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6" name="Google Shape;296;p59"/>
          <p:cNvGraphicFramePr/>
          <p:nvPr/>
        </p:nvGraphicFramePr>
        <p:xfrm>
          <a:off x="2428920" y="243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{80E7F7D6-2E43-4E2E-B1B5-E69537049E1D}</a:tableStyleId>
              </a:tblPr>
              <a:tblGrid>
                <a:gridCol w="725050"/>
                <a:gridCol w="725050"/>
                <a:gridCol w="725050"/>
                <a:gridCol w="725050"/>
                <a:gridCol w="725050"/>
                <a:gridCol w="725050"/>
                <a:gridCol w="72540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(A+B)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(A+B)’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A’ . 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0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De Morgan’s Laws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0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(A . B)’ = A’ + B’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" name="Google Shape;303;p60"/>
          <p:cNvGraphicFramePr/>
          <p:nvPr/>
        </p:nvGraphicFramePr>
        <p:xfrm>
          <a:off x="2428560" y="243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{80E7F7D6-2E43-4E2E-B1B5-E69537049E1D}</a:tableStyleId>
              </a:tblPr>
              <a:tblGrid>
                <a:gridCol w="725050"/>
                <a:gridCol w="725050"/>
                <a:gridCol w="725050"/>
                <a:gridCol w="725050"/>
                <a:gridCol w="725050"/>
                <a:gridCol w="725050"/>
                <a:gridCol w="72540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(A.B)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(A.B)’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A’ + 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Dual Law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1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Change ‘+’ to ‘.’ and ‘.’ to ‘+’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Any dual rule will hold true.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2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Number system revisited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2"/>
          <p:cNvSpPr txBox="1"/>
          <p:nvPr/>
        </p:nvSpPr>
        <p:spPr>
          <a:xfrm>
            <a:off x="685800" y="1143000"/>
            <a:ext cx="27082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Convert 4433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to decimal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2"/>
          <p:cNvSpPr txBox="1"/>
          <p:nvPr/>
        </p:nvSpPr>
        <p:spPr>
          <a:xfrm>
            <a:off x="698400" y="2057400"/>
            <a:ext cx="2777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Convert B9F.AE</a:t>
            </a:r>
            <a:r>
              <a:rPr b="0" lang="en-US" sz="1200" strike="noStrike"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to octal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2"/>
          <p:cNvSpPr txBox="1"/>
          <p:nvPr/>
        </p:nvSpPr>
        <p:spPr>
          <a:xfrm>
            <a:off x="734400" y="3020400"/>
            <a:ext cx="3549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Convert 756.603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to hexadecimal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2"/>
          <p:cNvSpPr txBox="1"/>
          <p:nvPr/>
        </p:nvSpPr>
        <p:spPr>
          <a:xfrm>
            <a:off x="734400" y="4114800"/>
            <a:ext cx="58158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Find the base of the number system, where sqrt(41) = 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3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Number system revisited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3"/>
          <p:cNvSpPr txBox="1"/>
          <p:nvPr/>
        </p:nvSpPr>
        <p:spPr>
          <a:xfrm>
            <a:off x="685800" y="1143000"/>
            <a:ext cx="27082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Convert 4433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to decimal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3"/>
          <p:cNvSpPr txBox="1"/>
          <p:nvPr/>
        </p:nvSpPr>
        <p:spPr>
          <a:xfrm>
            <a:off x="698400" y="2057400"/>
            <a:ext cx="2777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Convert B9F.AE</a:t>
            </a:r>
            <a:r>
              <a:rPr b="0" lang="en-US" sz="1200" strike="noStrike"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to octal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3"/>
          <p:cNvSpPr txBox="1"/>
          <p:nvPr/>
        </p:nvSpPr>
        <p:spPr>
          <a:xfrm>
            <a:off x="734400" y="3020400"/>
            <a:ext cx="3549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Convert 756.603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to hexadecimal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3"/>
          <p:cNvSpPr txBox="1"/>
          <p:nvPr/>
        </p:nvSpPr>
        <p:spPr>
          <a:xfrm>
            <a:off x="734400" y="4114800"/>
            <a:ext cx="58158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Find the base of the number system, where sqrt(41) = 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3"/>
          <p:cNvSpPr/>
          <p:nvPr/>
        </p:nvSpPr>
        <p:spPr>
          <a:xfrm>
            <a:off x="7772400" y="41148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3"/>
          <p:cNvSpPr/>
          <p:nvPr/>
        </p:nvSpPr>
        <p:spPr>
          <a:xfrm>
            <a:off x="6400800" y="2998800"/>
            <a:ext cx="17316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1EE.C18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16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3"/>
          <p:cNvSpPr/>
          <p:nvPr/>
        </p:nvSpPr>
        <p:spPr>
          <a:xfrm>
            <a:off x="6401160" y="2026800"/>
            <a:ext cx="17316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5637.534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8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3"/>
          <p:cNvSpPr/>
          <p:nvPr/>
        </p:nvSpPr>
        <p:spPr>
          <a:xfrm>
            <a:off x="6401520" y="1198800"/>
            <a:ext cx="17316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618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10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
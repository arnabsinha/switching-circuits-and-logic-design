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96" r:id="rId3"/>
    <p:sldMasterId id="2147483697" r:id="rId4"/>
    <p:sldMasterId id="2147483698" r:id="rId5"/>
    <p:sldMasterId id="214748369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y="5670550" cx="10080625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11" Type="http://schemas.openxmlformats.org/officeDocument/2006/relationships/slide" Target="slides/slide4.xml"/><Relationship Id="rId22" Type="http://schemas.openxmlformats.org/officeDocument/2006/relationships/slide" Target="slides/slide15.xml"/><Relationship Id="rId10" Type="http://schemas.openxmlformats.org/officeDocument/2006/relationships/slide" Target="slides/slide3.xml"/><Relationship Id="rId21" Type="http://schemas.openxmlformats.org/officeDocument/2006/relationships/slide" Target="slides/slide14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4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3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4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2"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idx="1" type="subTitle"/>
          </p:nvPr>
        </p:nvSpPr>
        <p:spPr>
          <a:xfrm>
            <a:off x="144000" y="72000"/>
            <a:ext cx="9540000" cy="3004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2"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3"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"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3"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3"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2"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3"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4"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2" type="body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3" type="body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4" type="body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5" type="body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6" type="body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"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9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"/>
          <p:cNvSpPr txBox="1"/>
          <p:nvPr>
            <p:ph idx="1" type="subTitle"/>
          </p:nvPr>
        </p:nvSpPr>
        <p:spPr>
          <a:xfrm>
            <a:off x="144000" y="72000"/>
            <a:ext cx="9540000" cy="3004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1"/>
          <p:cNvSpPr txBox="1"/>
          <p:nvPr>
            <p:ph idx="2"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1"/>
          <p:cNvSpPr txBox="1"/>
          <p:nvPr>
            <p:ph idx="3"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>
            <p:ph idx="1"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2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2"/>
          <p:cNvSpPr txBox="1"/>
          <p:nvPr>
            <p:ph idx="3"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3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3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3"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4"/>
          <p:cNvSpPr txBox="1"/>
          <p:nvPr>
            <p:ph idx="1"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4"/>
          <p:cNvSpPr txBox="1"/>
          <p:nvPr>
            <p:ph idx="2"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5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5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5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5"/>
          <p:cNvSpPr txBox="1"/>
          <p:nvPr>
            <p:ph idx="3"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5"/>
          <p:cNvSpPr txBox="1"/>
          <p:nvPr>
            <p:ph idx="4"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6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6"/>
          <p:cNvSpPr txBox="1"/>
          <p:nvPr>
            <p:ph idx="1"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6"/>
          <p:cNvSpPr txBox="1"/>
          <p:nvPr>
            <p:ph idx="2" type="body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6"/>
          <p:cNvSpPr txBox="1"/>
          <p:nvPr>
            <p:ph idx="3" type="body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6"/>
          <p:cNvSpPr txBox="1"/>
          <p:nvPr>
            <p:ph idx="4" type="body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6"/>
          <p:cNvSpPr txBox="1"/>
          <p:nvPr>
            <p:ph idx="5" type="body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6"/>
          <p:cNvSpPr txBox="1"/>
          <p:nvPr>
            <p:ph idx="6" type="body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8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8"/>
          <p:cNvSpPr txBox="1"/>
          <p:nvPr>
            <p:ph idx="1"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0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30"/>
          <p:cNvSpPr txBox="1"/>
          <p:nvPr>
            <p:ph idx="1"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1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1"/>
          <p:cNvSpPr txBox="1"/>
          <p:nvPr>
            <p:ph idx="1"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1"/>
          <p:cNvSpPr txBox="1"/>
          <p:nvPr>
            <p:ph idx="2"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2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3"/>
          <p:cNvSpPr txBox="1"/>
          <p:nvPr>
            <p:ph idx="1" type="subTitle"/>
          </p:nvPr>
        </p:nvSpPr>
        <p:spPr>
          <a:xfrm>
            <a:off x="144000" y="72000"/>
            <a:ext cx="9540000" cy="3004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4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4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34"/>
          <p:cNvSpPr txBox="1"/>
          <p:nvPr>
            <p:ph idx="2"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4"/>
          <p:cNvSpPr txBox="1"/>
          <p:nvPr>
            <p:ph idx="3"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5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35"/>
          <p:cNvSpPr txBox="1"/>
          <p:nvPr>
            <p:ph idx="1"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35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35"/>
          <p:cNvSpPr txBox="1"/>
          <p:nvPr>
            <p:ph idx="3"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6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36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6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36"/>
          <p:cNvSpPr txBox="1"/>
          <p:nvPr>
            <p:ph idx="3"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7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37"/>
          <p:cNvSpPr txBox="1"/>
          <p:nvPr>
            <p:ph idx="1"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37"/>
          <p:cNvSpPr txBox="1"/>
          <p:nvPr>
            <p:ph idx="2"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8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38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38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38"/>
          <p:cNvSpPr txBox="1"/>
          <p:nvPr>
            <p:ph idx="3"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38"/>
          <p:cNvSpPr txBox="1"/>
          <p:nvPr>
            <p:ph idx="4"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9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39"/>
          <p:cNvSpPr txBox="1"/>
          <p:nvPr>
            <p:ph idx="1"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39"/>
          <p:cNvSpPr txBox="1"/>
          <p:nvPr>
            <p:ph idx="2" type="body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39"/>
          <p:cNvSpPr txBox="1"/>
          <p:nvPr>
            <p:ph idx="3" type="body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39"/>
          <p:cNvSpPr txBox="1"/>
          <p:nvPr>
            <p:ph idx="4" type="body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39"/>
          <p:cNvSpPr txBox="1"/>
          <p:nvPr>
            <p:ph idx="5" type="body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39"/>
          <p:cNvSpPr txBox="1"/>
          <p:nvPr>
            <p:ph idx="6" type="body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2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42"/>
          <p:cNvSpPr txBox="1"/>
          <p:nvPr>
            <p:ph idx="1"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3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43"/>
          <p:cNvSpPr txBox="1"/>
          <p:nvPr>
            <p:ph idx="1"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4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44"/>
          <p:cNvSpPr txBox="1"/>
          <p:nvPr>
            <p:ph idx="1"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44"/>
          <p:cNvSpPr txBox="1"/>
          <p:nvPr>
            <p:ph idx="2"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5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6"/>
          <p:cNvSpPr txBox="1"/>
          <p:nvPr>
            <p:ph idx="1" type="subTitle"/>
          </p:nvPr>
        </p:nvSpPr>
        <p:spPr>
          <a:xfrm>
            <a:off x="144000" y="72000"/>
            <a:ext cx="9540000" cy="3004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7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47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47"/>
          <p:cNvSpPr txBox="1"/>
          <p:nvPr>
            <p:ph idx="2"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47"/>
          <p:cNvSpPr txBox="1"/>
          <p:nvPr>
            <p:ph idx="3"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8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48"/>
          <p:cNvSpPr txBox="1"/>
          <p:nvPr>
            <p:ph idx="1"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48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48"/>
          <p:cNvSpPr txBox="1"/>
          <p:nvPr>
            <p:ph idx="3"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9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49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49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49"/>
          <p:cNvSpPr txBox="1"/>
          <p:nvPr>
            <p:ph idx="3"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50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50"/>
          <p:cNvSpPr txBox="1"/>
          <p:nvPr>
            <p:ph idx="1"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50"/>
          <p:cNvSpPr txBox="1"/>
          <p:nvPr>
            <p:ph idx="2"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51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51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51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51"/>
          <p:cNvSpPr txBox="1"/>
          <p:nvPr>
            <p:ph idx="3"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51"/>
          <p:cNvSpPr txBox="1"/>
          <p:nvPr>
            <p:ph idx="4"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52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52"/>
          <p:cNvSpPr txBox="1"/>
          <p:nvPr>
            <p:ph idx="1"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52"/>
          <p:cNvSpPr txBox="1"/>
          <p:nvPr>
            <p:ph idx="2" type="body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52"/>
          <p:cNvSpPr txBox="1"/>
          <p:nvPr>
            <p:ph idx="3" type="body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52"/>
          <p:cNvSpPr txBox="1"/>
          <p:nvPr>
            <p:ph idx="4" type="body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52"/>
          <p:cNvSpPr txBox="1"/>
          <p:nvPr>
            <p:ph idx="5" type="body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52"/>
          <p:cNvSpPr txBox="1"/>
          <p:nvPr>
            <p:ph idx="6" type="body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5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6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9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5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584000" y="648000"/>
            <a:ext cx="647964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4104000" y="4896000"/>
            <a:ext cx="439200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p1"/>
          <p:cNvSpPr/>
          <p:nvPr/>
        </p:nvSpPr>
        <p:spPr>
          <a:xfrm>
            <a:off x="25920" y="4628880"/>
            <a:ext cx="6120000" cy="18000"/>
          </a:xfrm>
          <a:custGeom>
            <a:rect b="b" l="l" r="r" t="t"/>
            <a:pathLst>
              <a:path extrusionOk="0" h="52" w="1700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>
            <a:gsLst>
              <a:gs pos="0">
                <a:srgbClr val="CCCCCC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1"/>
          <p:cNvSpPr/>
          <p:nvPr/>
        </p:nvSpPr>
        <p:spPr>
          <a:xfrm>
            <a:off x="3859200" y="5324400"/>
            <a:ext cx="6240240" cy="7200"/>
          </a:xfrm>
          <a:custGeom>
            <a:rect b="b" l="l" r="r" t="t"/>
            <a:pathLst>
              <a:path extrusionOk="0" h="22" w="17335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CCCCCC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4044960" y="4944960"/>
            <a:ext cx="7200" cy="487440"/>
          </a:xfrm>
          <a:custGeom>
            <a:rect b="b" l="l" r="r" t="t"/>
            <a:pathLst>
              <a:path extrusionOk="0" h="1356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3" name="Google Shape;63;p14"/>
          <p:cNvSpPr txBox="1"/>
          <p:nvPr>
            <p:ph idx="10" type="dt"/>
          </p:nvPr>
        </p:nvSpPr>
        <p:spPr>
          <a:xfrm>
            <a:off x="504000" y="5256000"/>
            <a:ext cx="1656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4" name="Google Shape;64;p14"/>
          <p:cNvSpPr txBox="1"/>
          <p:nvPr>
            <p:ph idx="11" type="ftr"/>
          </p:nvPr>
        </p:nvSpPr>
        <p:spPr>
          <a:xfrm>
            <a:off x="2520000" y="5256000"/>
            <a:ext cx="4680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7560000" y="5256000"/>
            <a:ext cx="1620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20880" y="607320"/>
            <a:ext cx="6120000" cy="18000"/>
          </a:xfrm>
          <a:custGeom>
            <a:rect b="b" l="l" r="r" t="t"/>
            <a:pathLst>
              <a:path extrusionOk="0" h="52" w="1700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>
            <a:gsLst>
              <a:gs pos="0">
                <a:srgbClr val="CCCCCC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/>
          <p:nvPr/>
        </p:nvSpPr>
        <p:spPr>
          <a:xfrm>
            <a:off x="4430520" y="840960"/>
            <a:ext cx="5673960" cy="7200"/>
          </a:xfrm>
          <a:custGeom>
            <a:rect b="b" l="l" r="r" t="t"/>
            <a:pathLst>
              <a:path extrusionOk="0" h="22" w="15763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/>
          <p:nvPr/>
        </p:nvSpPr>
        <p:spPr>
          <a:xfrm>
            <a:off x="9819720" y="474480"/>
            <a:ext cx="7200" cy="493200"/>
          </a:xfrm>
          <a:custGeom>
            <a:rect b="b" l="l" r="r" t="t"/>
            <a:pathLst>
              <a:path extrusionOk="0" h="1371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1900800" y="5204880"/>
            <a:ext cx="7465320" cy="7200"/>
          </a:xfrm>
          <a:custGeom>
            <a:rect b="b" l="l" r="r" t="t"/>
            <a:pathLst>
              <a:path extrusionOk="0" h="22" w="20739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9259920" y="4917240"/>
            <a:ext cx="7200" cy="349560"/>
          </a:xfrm>
          <a:custGeom>
            <a:rect b="b" l="l" r="r" t="t"/>
            <a:pathLst>
              <a:path extrusionOk="0" h="972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7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1" name="Google Shape;121;p27"/>
          <p:cNvSpPr txBox="1"/>
          <p:nvPr>
            <p:ph idx="1"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2" name="Google Shape;122;p27"/>
          <p:cNvSpPr txBox="1"/>
          <p:nvPr>
            <p:ph idx="10" type="dt"/>
          </p:nvPr>
        </p:nvSpPr>
        <p:spPr>
          <a:xfrm>
            <a:off x="504000" y="5256000"/>
            <a:ext cx="1656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3" name="Google Shape;123;p27"/>
          <p:cNvSpPr txBox="1"/>
          <p:nvPr>
            <p:ph idx="11" type="ftr"/>
          </p:nvPr>
        </p:nvSpPr>
        <p:spPr>
          <a:xfrm>
            <a:off x="2520000" y="5256000"/>
            <a:ext cx="4680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4" name="Google Shape;124;p27"/>
          <p:cNvSpPr txBox="1"/>
          <p:nvPr>
            <p:ph idx="12" type="sldNum"/>
          </p:nvPr>
        </p:nvSpPr>
        <p:spPr>
          <a:xfrm>
            <a:off x="7560000" y="5256000"/>
            <a:ext cx="1620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" name="Google Shape;125;p27"/>
          <p:cNvSpPr/>
          <p:nvPr/>
        </p:nvSpPr>
        <p:spPr>
          <a:xfrm>
            <a:off x="20880" y="607320"/>
            <a:ext cx="6120000" cy="18000"/>
          </a:xfrm>
          <a:custGeom>
            <a:rect b="b" l="l" r="r" t="t"/>
            <a:pathLst>
              <a:path extrusionOk="0" h="52" w="1700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>
            <a:gsLst>
              <a:gs pos="0">
                <a:srgbClr val="CCCCCC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7"/>
          <p:cNvSpPr/>
          <p:nvPr/>
        </p:nvSpPr>
        <p:spPr>
          <a:xfrm>
            <a:off x="4430520" y="840960"/>
            <a:ext cx="5673960" cy="7200"/>
          </a:xfrm>
          <a:custGeom>
            <a:rect b="b" l="l" r="r" t="t"/>
            <a:pathLst>
              <a:path extrusionOk="0" h="22" w="15763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7"/>
          <p:cNvSpPr/>
          <p:nvPr/>
        </p:nvSpPr>
        <p:spPr>
          <a:xfrm>
            <a:off x="9819720" y="474480"/>
            <a:ext cx="7200" cy="493200"/>
          </a:xfrm>
          <a:custGeom>
            <a:rect b="b" l="l" r="r" t="t"/>
            <a:pathLst>
              <a:path extrusionOk="0" h="1371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7"/>
          <p:cNvSpPr/>
          <p:nvPr/>
        </p:nvSpPr>
        <p:spPr>
          <a:xfrm>
            <a:off x="1900800" y="5204880"/>
            <a:ext cx="7465320" cy="7200"/>
          </a:xfrm>
          <a:custGeom>
            <a:rect b="b" l="l" r="r" t="t"/>
            <a:pathLst>
              <a:path extrusionOk="0" h="22" w="20739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7"/>
          <p:cNvSpPr/>
          <p:nvPr/>
        </p:nvSpPr>
        <p:spPr>
          <a:xfrm>
            <a:off x="9259920" y="4917240"/>
            <a:ext cx="7200" cy="349560"/>
          </a:xfrm>
          <a:custGeom>
            <a:rect b="b" l="l" r="r" t="t"/>
            <a:pathLst>
              <a:path extrusionOk="0" h="972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0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0" name="Google Shape;180;p40"/>
          <p:cNvSpPr txBox="1"/>
          <p:nvPr>
            <p:ph idx="1" type="body"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1" name="Google Shape;181;p40"/>
          <p:cNvSpPr txBox="1"/>
          <p:nvPr>
            <p:ph idx="10" type="dt"/>
          </p:nvPr>
        </p:nvSpPr>
        <p:spPr>
          <a:xfrm>
            <a:off x="504000" y="5256000"/>
            <a:ext cx="1656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2" name="Google Shape;182;p40"/>
          <p:cNvSpPr txBox="1"/>
          <p:nvPr>
            <p:ph idx="11" type="ftr"/>
          </p:nvPr>
        </p:nvSpPr>
        <p:spPr>
          <a:xfrm>
            <a:off x="2520000" y="5256000"/>
            <a:ext cx="4680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3" name="Google Shape;183;p40"/>
          <p:cNvSpPr txBox="1"/>
          <p:nvPr>
            <p:ph idx="12" type="sldNum"/>
          </p:nvPr>
        </p:nvSpPr>
        <p:spPr>
          <a:xfrm>
            <a:off x="7560000" y="5256000"/>
            <a:ext cx="1620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4" name="Google Shape;184;p40"/>
          <p:cNvSpPr/>
          <p:nvPr/>
        </p:nvSpPr>
        <p:spPr>
          <a:xfrm>
            <a:off x="20880" y="607320"/>
            <a:ext cx="6120000" cy="18000"/>
          </a:xfrm>
          <a:custGeom>
            <a:rect b="b" l="l" r="r" t="t"/>
            <a:pathLst>
              <a:path extrusionOk="0" h="52" w="1700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>
            <a:gsLst>
              <a:gs pos="0">
                <a:srgbClr val="CCCCCC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40"/>
          <p:cNvSpPr/>
          <p:nvPr/>
        </p:nvSpPr>
        <p:spPr>
          <a:xfrm>
            <a:off x="4430520" y="840960"/>
            <a:ext cx="5673960" cy="7200"/>
          </a:xfrm>
          <a:custGeom>
            <a:rect b="b" l="l" r="r" t="t"/>
            <a:pathLst>
              <a:path extrusionOk="0" h="22" w="15763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40"/>
          <p:cNvSpPr/>
          <p:nvPr/>
        </p:nvSpPr>
        <p:spPr>
          <a:xfrm>
            <a:off x="9819720" y="474480"/>
            <a:ext cx="7200" cy="493200"/>
          </a:xfrm>
          <a:custGeom>
            <a:rect b="b" l="l" r="r" t="t"/>
            <a:pathLst>
              <a:path extrusionOk="0" h="1371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40"/>
          <p:cNvSpPr/>
          <p:nvPr/>
        </p:nvSpPr>
        <p:spPr>
          <a:xfrm>
            <a:off x="5644080" y="5194800"/>
            <a:ext cx="3722040" cy="7200"/>
          </a:xfrm>
          <a:custGeom>
            <a:rect b="b" l="l" r="r" t="t"/>
            <a:pathLst>
              <a:path extrusionOk="0" h="22" w="1034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40"/>
          <p:cNvSpPr/>
          <p:nvPr/>
        </p:nvSpPr>
        <p:spPr>
          <a:xfrm>
            <a:off x="9259920" y="4917240"/>
            <a:ext cx="7200" cy="349560"/>
          </a:xfrm>
          <a:custGeom>
            <a:rect b="b" l="l" r="r" t="t"/>
            <a:pathLst>
              <a:path extrusionOk="0" h="972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40"/>
          <p:cNvSpPr/>
          <p:nvPr/>
        </p:nvSpPr>
        <p:spPr>
          <a:xfrm>
            <a:off x="974160" y="5194440"/>
            <a:ext cx="3722040" cy="7200"/>
          </a:xfrm>
          <a:custGeom>
            <a:rect b="b" l="l" r="r" t="t"/>
            <a:pathLst>
              <a:path extrusionOk="0" h="22" w="1034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40"/>
          <p:cNvSpPr/>
          <p:nvPr/>
        </p:nvSpPr>
        <p:spPr>
          <a:xfrm>
            <a:off x="4590000" y="4914000"/>
            <a:ext cx="7200" cy="349560"/>
          </a:xfrm>
          <a:custGeom>
            <a:rect b="b" l="l" r="r" t="t"/>
            <a:pathLst>
              <a:path extrusionOk="0" h="972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40"/>
          <p:cNvSpPr/>
          <p:nvPr/>
        </p:nvSpPr>
        <p:spPr>
          <a:xfrm>
            <a:off x="5055480" y="1037160"/>
            <a:ext cx="10800" cy="3700800"/>
          </a:xfrm>
          <a:custGeom>
            <a:rect b="b" l="l" r="r" t="t"/>
            <a:pathLst>
              <a:path extrusionOk="0" h="10282" w="3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53"/>
          <p:cNvSpPr txBox="1"/>
          <p:nvPr/>
        </p:nvSpPr>
        <p:spPr>
          <a:xfrm>
            <a:off x="552600" y="16002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Switching Circuit &amp; Logic Design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53"/>
          <p:cNvSpPr txBox="1"/>
          <p:nvPr/>
        </p:nvSpPr>
        <p:spPr>
          <a:xfrm>
            <a:off x="2541600" y="3200400"/>
            <a:ext cx="471132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Lecture 5 : Introduction to number theory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54"/>
          <p:cNvSpPr txBox="1"/>
          <p:nvPr/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Things to cover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54"/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Number theory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Book : Fundamentals of Digital Circuits, A. Anand Kumar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5"/>
          <p:cNvSpPr txBox="1"/>
          <p:nvPr/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Number Theory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55"/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Base / radix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Decimal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Binary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Octal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Hexadecimal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56"/>
          <p:cNvSpPr txBox="1"/>
          <p:nvPr/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Counting with Binary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56"/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0, 1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00, 01, 10, 11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000, 001, 010, 011, 100, 101, 110, 111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...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57"/>
          <p:cNvSpPr txBox="1"/>
          <p:nvPr/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Conversion of Decimal to Binary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57"/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Before decimal point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After decimal point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58"/>
          <p:cNvSpPr txBox="1"/>
          <p:nvPr/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Addition in Binary system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58"/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0 + 0 = 0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0 + 1 = 1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1 + 0 = 1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1 + 1 = 10 : Carry 1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59"/>
          <p:cNvSpPr txBox="1"/>
          <p:nvPr/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Subtraction in Binary System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59"/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0 – 0 = 0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1 – 1 = 0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1 – 0 = 1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0 – 1 = 1 with a borrow of 1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59"/>
          <p:cNvSpPr/>
          <p:nvPr/>
        </p:nvSpPr>
        <p:spPr>
          <a:xfrm>
            <a:off x="5257800" y="1371600"/>
            <a:ext cx="2057400" cy="1828800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21600" y="10800"/>
                </a:lnTo>
                <a:lnTo>
                  <a:pt x="10800" y="21600"/>
                </a:lnTo>
                <a:lnTo>
                  <a:pt x="0" y="10800"/>
                </a:lnTo>
                <a:lnTo>
                  <a:pt x="10800" y="0"/>
                </a:lnTo>
                <a:close/>
              </a:path>
            </a:pathLst>
          </a:cu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How adder can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Do ?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60"/>
          <p:cNvSpPr txBox="1"/>
          <p:nvPr/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Negative decimal number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60"/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Sign bit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1’s complement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2’s complement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61"/>
          <p:cNvSpPr txBox="1"/>
          <p:nvPr/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Sign bit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61"/>
          <p:cNvSpPr txBox="1"/>
          <p:nvPr/>
        </p:nvSpPr>
        <p:spPr>
          <a:xfrm>
            <a:off x="252000" y="1326600"/>
            <a:ext cx="802260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Most significant bit (MSB) 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Least significant bit (LSB)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Unsigned and signed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232559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Noto Sans Symbols"/>
              <a:buNone/>
            </a:pPr>
            <a:r>
              <a:t/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62"/>
          <p:cNvSpPr txBox="1"/>
          <p:nvPr/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1’s Complement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62"/>
          <p:cNvSpPr/>
          <p:nvPr/>
        </p:nvSpPr>
        <p:spPr>
          <a:xfrm>
            <a:off x="2187000" y="1600200"/>
            <a:ext cx="4343400" cy="137160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1→ 0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0 → 1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63"/>
          <p:cNvSpPr/>
          <p:nvPr/>
        </p:nvSpPr>
        <p:spPr>
          <a:xfrm>
            <a:off x="914400" y="1143000"/>
            <a:ext cx="457200" cy="2971800"/>
          </a:xfrm>
          <a:prstGeom prst="rect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63"/>
          <p:cNvSpPr txBox="1"/>
          <p:nvPr/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1’s Complement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63"/>
          <p:cNvSpPr txBox="1"/>
          <p:nvPr/>
        </p:nvSpPr>
        <p:spPr>
          <a:xfrm>
            <a:off x="685800" y="1600200"/>
            <a:ext cx="1305720" cy="2138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0000 → +0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0001 → +1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0010 → +2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0011 → +3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0100 → +4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0101 → +5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0110 → +6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0111 → +7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63"/>
          <p:cNvSpPr txBox="1"/>
          <p:nvPr/>
        </p:nvSpPr>
        <p:spPr>
          <a:xfrm>
            <a:off x="6554160" y="1600560"/>
            <a:ext cx="1248120" cy="2138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1111 → -0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1110 → -1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1101 → -2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1100 → -3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1011 → -4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1010 → -5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1001 → -6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1000 → -7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9" name="Google Shape;309;p63"/>
          <p:cNvCxnSpPr/>
          <p:nvPr/>
        </p:nvCxnSpPr>
        <p:spPr>
          <a:xfrm>
            <a:off x="457200" y="1600200"/>
            <a:ext cx="0" cy="2057400"/>
          </a:xfrm>
          <a:prstGeom prst="straightConnector1">
            <a:avLst/>
          </a:prstGeom>
          <a:noFill/>
          <a:ln cap="flat" cmpd="sng" w="108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0" name="Google Shape;310;p63"/>
          <p:cNvCxnSpPr/>
          <p:nvPr/>
        </p:nvCxnSpPr>
        <p:spPr>
          <a:xfrm rot="10800000">
            <a:off x="6377400" y="1600200"/>
            <a:ext cx="0" cy="2057400"/>
          </a:xfrm>
          <a:prstGeom prst="straightConnector1">
            <a:avLst/>
          </a:prstGeom>
          <a:noFill/>
          <a:ln cap="flat" cmpd="sng" w="108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1" name="Google Shape;311;p63"/>
          <p:cNvCxnSpPr>
            <a:stCxn id="307" idx="3"/>
            <a:endCxn id="308" idx="1"/>
          </p:cNvCxnSpPr>
          <p:nvPr/>
        </p:nvCxnSpPr>
        <p:spPr>
          <a:xfrm>
            <a:off x="1991520" y="2669220"/>
            <a:ext cx="4562700" cy="3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2" name="Google Shape;312;p63"/>
          <p:cNvSpPr/>
          <p:nvPr/>
        </p:nvSpPr>
        <p:spPr>
          <a:xfrm>
            <a:off x="2538000" y="2201400"/>
            <a:ext cx="3236400" cy="35964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1’s Complement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63"/>
          <p:cNvSpPr/>
          <p:nvPr/>
        </p:nvSpPr>
        <p:spPr>
          <a:xfrm>
            <a:off x="1371600" y="1143000"/>
            <a:ext cx="914400" cy="228600"/>
          </a:xfrm>
          <a:custGeom>
            <a:rect b="b" l="l" r="r" t="t"/>
            <a:pathLst>
              <a:path extrusionOk="0" h="637" w="2542">
                <a:moveTo>
                  <a:pt x="0" y="159"/>
                </a:moveTo>
                <a:lnTo>
                  <a:pt x="1905" y="159"/>
                </a:lnTo>
                <a:lnTo>
                  <a:pt x="1905" y="0"/>
                </a:lnTo>
                <a:lnTo>
                  <a:pt x="2541" y="318"/>
                </a:lnTo>
                <a:lnTo>
                  <a:pt x="1905" y="636"/>
                </a:lnTo>
                <a:lnTo>
                  <a:pt x="1905" y="477"/>
                </a:lnTo>
                <a:lnTo>
                  <a:pt x="0" y="477"/>
                </a:lnTo>
                <a:lnTo>
                  <a:pt x="0" y="159"/>
                </a:lnTo>
              </a:path>
            </a:pathLst>
          </a:cu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63"/>
          <p:cNvSpPr/>
          <p:nvPr/>
        </p:nvSpPr>
        <p:spPr>
          <a:xfrm>
            <a:off x="2370600" y="1071000"/>
            <a:ext cx="2057400" cy="35964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Value/Magnitude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63"/>
          <p:cNvSpPr txBox="1"/>
          <p:nvPr/>
        </p:nvSpPr>
        <p:spPr>
          <a:xfrm>
            <a:off x="8282520" y="1600920"/>
            <a:ext cx="1248120" cy="2138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1000 → -0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1001 → -1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1010 → -2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1011 → -3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1100 → -4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1101 → -5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1110 → -6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1111 → -7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63"/>
          <p:cNvSpPr/>
          <p:nvPr/>
        </p:nvSpPr>
        <p:spPr>
          <a:xfrm>
            <a:off x="7880400" y="1143000"/>
            <a:ext cx="2057400" cy="457200"/>
          </a:xfrm>
          <a:prstGeom prst="rect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Not Complemented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63"/>
          <p:cNvSpPr/>
          <p:nvPr/>
        </p:nvSpPr>
        <p:spPr>
          <a:xfrm>
            <a:off x="3657600" y="4158720"/>
            <a:ext cx="2286000" cy="35964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Sign Bit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8" name="Google Shape;318;p63"/>
          <p:cNvCxnSpPr/>
          <p:nvPr/>
        </p:nvCxnSpPr>
        <p:spPr>
          <a:xfrm rot="10800000">
            <a:off x="829800" y="3657600"/>
            <a:ext cx="0" cy="6858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9" name="Google Shape;319;p63"/>
          <p:cNvCxnSpPr/>
          <p:nvPr/>
        </p:nvCxnSpPr>
        <p:spPr>
          <a:xfrm>
            <a:off x="829800" y="4343400"/>
            <a:ext cx="2827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0" name="Google Shape;320;p63"/>
          <p:cNvCxnSpPr/>
          <p:nvPr/>
        </p:nvCxnSpPr>
        <p:spPr>
          <a:xfrm rot="10800000">
            <a:off x="6717960" y="3660480"/>
            <a:ext cx="0" cy="6858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1" name="Google Shape;321;p63"/>
          <p:cNvCxnSpPr/>
          <p:nvPr/>
        </p:nvCxnSpPr>
        <p:spPr>
          <a:xfrm rot="10800000">
            <a:off x="8445960" y="3663360"/>
            <a:ext cx="12240" cy="113724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2" name="Google Shape;322;p63"/>
          <p:cNvCxnSpPr/>
          <p:nvPr/>
        </p:nvCxnSpPr>
        <p:spPr>
          <a:xfrm rot="10800000">
            <a:off x="4800600" y="4800600"/>
            <a:ext cx="364536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3" name="Google Shape;323;p63"/>
          <p:cNvCxnSpPr/>
          <p:nvPr/>
        </p:nvCxnSpPr>
        <p:spPr>
          <a:xfrm rot="10800000">
            <a:off x="5943600" y="4343400"/>
            <a:ext cx="774360" cy="288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4" name="Google Shape;324;p63"/>
          <p:cNvCxnSpPr/>
          <p:nvPr/>
        </p:nvCxnSpPr>
        <p:spPr>
          <a:xfrm rot="10800000">
            <a:off x="4800600" y="4518360"/>
            <a:ext cx="0" cy="28224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64"/>
          <p:cNvSpPr txBox="1"/>
          <p:nvPr/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1’s Complement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64"/>
          <p:cNvSpPr txBox="1"/>
          <p:nvPr/>
        </p:nvSpPr>
        <p:spPr>
          <a:xfrm>
            <a:off x="685800" y="1600200"/>
            <a:ext cx="1305720" cy="2138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0000 → +0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0001 → +1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0010 → +2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0011 → +3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0100 → +4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0101 → +5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0110 → +6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0111 → +7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64"/>
          <p:cNvSpPr txBox="1"/>
          <p:nvPr/>
        </p:nvSpPr>
        <p:spPr>
          <a:xfrm>
            <a:off x="6554160" y="1600560"/>
            <a:ext cx="1248120" cy="2138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1111 → -0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1110 → -1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1101 → -2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1100 → -3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1011 → -4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1010 → -5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1001 → -6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1000 → -7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2" name="Google Shape;332;p64"/>
          <p:cNvCxnSpPr/>
          <p:nvPr/>
        </p:nvCxnSpPr>
        <p:spPr>
          <a:xfrm>
            <a:off x="457200" y="1600200"/>
            <a:ext cx="0" cy="2057400"/>
          </a:xfrm>
          <a:prstGeom prst="straightConnector1">
            <a:avLst/>
          </a:prstGeom>
          <a:noFill/>
          <a:ln cap="flat" cmpd="sng" w="108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3" name="Google Shape;333;p64"/>
          <p:cNvCxnSpPr/>
          <p:nvPr/>
        </p:nvCxnSpPr>
        <p:spPr>
          <a:xfrm rot="10800000">
            <a:off x="6377400" y="1600200"/>
            <a:ext cx="0" cy="2057400"/>
          </a:xfrm>
          <a:prstGeom prst="straightConnector1">
            <a:avLst/>
          </a:prstGeom>
          <a:noFill/>
          <a:ln cap="flat" cmpd="sng" w="108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4" name="Google Shape;334;p64"/>
          <p:cNvCxnSpPr>
            <a:stCxn id="330" idx="3"/>
            <a:endCxn id="331" idx="1"/>
          </p:cNvCxnSpPr>
          <p:nvPr/>
        </p:nvCxnSpPr>
        <p:spPr>
          <a:xfrm>
            <a:off x="1991520" y="2669220"/>
            <a:ext cx="4562700" cy="3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5" name="Google Shape;335;p64"/>
          <p:cNvSpPr/>
          <p:nvPr/>
        </p:nvSpPr>
        <p:spPr>
          <a:xfrm>
            <a:off x="2538000" y="2201400"/>
            <a:ext cx="3236400" cy="35964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1’s Complement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64"/>
          <p:cNvSpPr/>
          <p:nvPr/>
        </p:nvSpPr>
        <p:spPr>
          <a:xfrm>
            <a:off x="3429000" y="914400"/>
            <a:ext cx="1371600" cy="35964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Confusion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7" name="Google Shape;337;p64"/>
          <p:cNvCxnSpPr/>
          <p:nvPr/>
        </p:nvCxnSpPr>
        <p:spPr>
          <a:xfrm flipH="1">
            <a:off x="1828800" y="1143000"/>
            <a:ext cx="1600200" cy="6858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8" name="Google Shape;338;p64"/>
          <p:cNvCxnSpPr/>
          <p:nvPr/>
        </p:nvCxnSpPr>
        <p:spPr>
          <a:xfrm>
            <a:off x="4800600" y="1143000"/>
            <a:ext cx="2514600" cy="4572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65"/>
          <p:cNvSpPr txBox="1"/>
          <p:nvPr/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2’s Complement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65"/>
          <p:cNvSpPr/>
          <p:nvPr/>
        </p:nvSpPr>
        <p:spPr>
          <a:xfrm>
            <a:off x="3090600" y="1600200"/>
            <a:ext cx="2743200" cy="91440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1’s complement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65"/>
          <p:cNvSpPr/>
          <p:nvPr/>
        </p:nvSpPr>
        <p:spPr>
          <a:xfrm>
            <a:off x="2981160" y="2971800"/>
            <a:ext cx="2971800" cy="91440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Add 1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6" name="Google Shape;346;p65"/>
          <p:cNvCxnSpPr/>
          <p:nvPr/>
        </p:nvCxnSpPr>
        <p:spPr>
          <a:xfrm>
            <a:off x="4462200" y="2514600"/>
            <a:ext cx="0" cy="4572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66"/>
          <p:cNvSpPr txBox="1"/>
          <p:nvPr/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2’s Complement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66"/>
          <p:cNvSpPr txBox="1"/>
          <p:nvPr/>
        </p:nvSpPr>
        <p:spPr>
          <a:xfrm>
            <a:off x="685800" y="1600200"/>
            <a:ext cx="1305720" cy="2138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0000 → +0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0001 → +1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0010 → +2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0011 → +3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0100 → +4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0101 → +5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0110 → +6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0111 → +7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66"/>
          <p:cNvSpPr txBox="1"/>
          <p:nvPr/>
        </p:nvSpPr>
        <p:spPr>
          <a:xfrm>
            <a:off x="4430160" y="1600560"/>
            <a:ext cx="1248120" cy="2138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1111 → -0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1110 → -1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1101 → -2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1100 → -3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1011 → -4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1010 → -5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1001 → -6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1000 → -7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4" name="Google Shape;354;p66"/>
          <p:cNvCxnSpPr/>
          <p:nvPr/>
        </p:nvCxnSpPr>
        <p:spPr>
          <a:xfrm>
            <a:off x="457200" y="1600200"/>
            <a:ext cx="0" cy="2057400"/>
          </a:xfrm>
          <a:prstGeom prst="straightConnector1">
            <a:avLst/>
          </a:prstGeom>
          <a:noFill/>
          <a:ln cap="flat" cmpd="sng" w="108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5" name="Google Shape;355;p66"/>
          <p:cNvCxnSpPr/>
          <p:nvPr/>
        </p:nvCxnSpPr>
        <p:spPr>
          <a:xfrm rot="10800000">
            <a:off x="4253400" y="1600200"/>
            <a:ext cx="0" cy="2057400"/>
          </a:xfrm>
          <a:prstGeom prst="straightConnector1">
            <a:avLst/>
          </a:prstGeom>
          <a:noFill/>
          <a:ln cap="flat" cmpd="sng" w="108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6" name="Google Shape;356;p66"/>
          <p:cNvCxnSpPr>
            <a:stCxn id="352" idx="3"/>
            <a:endCxn id="353" idx="1"/>
          </p:cNvCxnSpPr>
          <p:nvPr/>
        </p:nvCxnSpPr>
        <p:spPr>
          <a:xfrm>
            <a:off x="1991520" y="2669220"/>
            <a:ext cx="2438700" cy="3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7" name="Google Shape;357;p66"/>
          <p:cNvSpPr/>
          <p:nvPr/>
        </p:nvSpPr>
        <p:spPr>
          <a:xfrm>
            <a:off x="2106000" y="2201400"/>
            <a:ext cx="2008800" cy="35964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1’s Complement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66"/>
          <p:cNvSpPr/>
          <p:nvPr/>
        </p:nvSpPr>
        <p:spPr>
          <a:xfrm>
            <a:off x="5943600" y="2286000"/>
            <a:ext cx="914400" cy="359640"/>
          </a:xfrm>
          <a:prstGeom prst="rect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Add 1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9" name="Google Shape;359;p66"/>
          <p:cNvCxnSpPr/>
          <p:nvPr/>
        </p:nvCxnSpPr>
        <p:spPr>
          <a:xfrm>
            <a:off x="6858000" y="2478600"/>
            <a:ext cx="4572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0" name="Google Shape;360;p66"/>
          <p:cNvSpPr txBox="1"/>
          <p:nvPr/>
        </p:nvSpPr>
        <p:spPr>
          <a:xfrm>
            <a:off x="7418520" y="1600920"/>
            <a:ext cx="1248120" cy="2138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rgbClr val="FF3838"/>
                </a:solidFill>
                <a:latin typeface="Arial"/>
                <a:ea typeface="Arial"/>
                <a:cs typeface="Arial"/>
                <a:sym typeface="Arial"/>
              </a:rPr>
              <a:t>0000 → -0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1111 → -1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1110 → -2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1101 → -3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1100 → -4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1011 → -5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1010 → -6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1001 → -7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1" name="Google Shape;361;p66"/>
          <p:cNvCxnSpPr/>
          <p:nvPr/>
        </p:nvCxnSpPr>
        <p:spPr>
          <a:xfrm rot="10800000">
            <a:off x="7385400" y="1603080"/>
            <a:ext cx="0" cy="2057400"/>
          </a:xfrm>
          <a:prstGeom prst="straightConnector1">
            <a:avLst/>
          </a:prstGeom>
          <a:noFill/>
          <a:ln cap="flat" cmpd="sng" w="108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2" name="Google Shape;362;p66"/>
          <p:cNvSpPr/>
          <p:nvPr/>
        </p:nvSpPr>
        <p:spPr>
          <a:xfrm>
            <a:off x="6845400" y="3886200"/>
            <a:ext cx="2514600" cy="359640"/>
          </a:xfrm>
          <a:prstGeom prst="rect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1000 cannot exist !!!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67"/>
          <p:cNvSpPr txBox="1"/>
          <p:nvPr/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Other number systems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67"/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Decimal to octal, hexadecimal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Octal to decimal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Hexadecimal to decimal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